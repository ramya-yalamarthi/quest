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95550" cy="6858000"/>
          </a:xfrm>
          <a:prstGeom prst="rect">
            <a:avLst/>
          </a:prstGeom>
          <a:solidFill>
            <a:srgbClr val="1E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5750" y="285750"/>
            <a:ext cx="19240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900" b="1">
                <a:solidFill>
                  <a:srgbClr val="3D7BF5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990600"/>
            <a:ext cx="192405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25" b="1">
                <a:solidFill>
                  <a:srgbClr val="FFFFFF"/>
                </a:solidFill>
                <a:latin typeface="Segoe UI"/>
              </a:rPr>
              <a:t>Quest — AI Support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750" y="1733550"/>
            <a:ext cx="19240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75" b="0" i="1">
                <a:solidFill>
                  <a:srgbClr val="C3CDEA"/>
                </a:solidFill>
                <a:latin typeface="Segoe UI"/>
              </a:rPr>
              <a:t>Support cases → grounded AI recommendations, written straight back into Dynamics 365 / ServiceNow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" y="2628900"/>
            <a:ext cx="19240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8B9BC4"/>
                </a:solidFill>
                <a:latin typeface="Segoe UI"/>
              </a:rPr>
              <a:t>BUSINESS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50" y="2790825"/>
            <a:ext cx="19240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2" b="0">
                <a:solidFill>
                  <a:srgbClr val="FFFFFF"/>
                </a:solidFill>
                <a:latin typeface="Segoe UI"/>
              </a:rPr>
              <a:t>~30–60s case → recommendation, 24/7 hands-off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" y="3352800"/>
            <a:ext cx="19240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8B9BC4"/>
                </a:solidFill>
                <a:latin typeface="Segoe UI"/>
              </a:rPr>
              <a:t>INDUSTRIES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3514725"/>
            <a:ext cx="19240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2" b="0">
                <a:solidFill>
                  <a:srgbClr val="FFFFFF"/>
                </a:solidFill>
                <a:latin typeface="Segoe UI"/>
              </a:rPr>
              <a:t>Cloud Infra · ITSM · Enterprise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750" y="4076700"/>
            <a:ext cx="19240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8B9BC4"/>
                </a:solidFill>
                <a:latin typeface="Segoe UI"/>
              </a:rPr>
              <a:t>BUILD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50" y="4238625"/>
            <a:ext cx="19240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2" b="0">
                <a:solidFill>
                  <a:srgbClr val="FFFFFF"/>
                </a:solidFill>
                <a:latin typeface="Segoe UI"/>
              </a:rPr>
              <a:t>MVP deployed · 4-phase rollout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50" y="4762500"/>
            <a:ext cx="19240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8B9BC4"/>
                </a:solidFill>
                <a:latin typeface="Segoe UI"/>
              </a:rPr>
              <a:t>PRINCIPLE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50" y="4924425"/>
            <a:ext cx="19240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2" b="0">
                <a:solidFill>
                  <a:srgbClr val="FFFFFF"/>
                </a:solidFill>
                <a:latin typeface="Segoe UI"/>
              </a:rPr>
              <a:t>AI proposes; it only acts behind confidence gates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09550"/>
            <a:ext cx="4533900" cy="914400"/>
          </a:xfrm>
          <a:prstGeom prst="roundRect">
            <a:avLst>
              <a:gd name="adj" fmla="val 6000"/>
            </a:avLst>
          </a:prstGeom>
          <a:solidFill>
            <a:srgbClr val="FDF5EE"/>
          </a:solidFill>
          <a:ln w="12700">
            <a:solidFill>
              <a:srgbClr val="F4D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6075" y="314325"/>
            <a:ext cx="4248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7" b="1">
                <a:solidFill>
                  <a:srgbClr val="E0631A"/>
                </a:solidFill>
                <a:latin typeface="Segoe UI"/>
              </a:rPr>
              <a:t>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6075" y="495300"/>
            <a:ext cx="424815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85" b="0">
                <a:solidFill>
                  <a:srgbClr val="3C485F"/>
                </a:solidFill>
                <a:latin typeface="Segoe UI"/>
              </a:rPr>
              <a:t>Engineers triage every case by hand — routing, root-cause hunting and fix research are slow, inconsistent, and repeat work already solved in past tickets.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0450" y="209550"/>
            <a:ext cx="4533900" cy="914400"/>
          </a:xfrm>
          <a:prstGeom prst="roundRect">
            <a:avLst>
              <a:gd name="adj" fmla="val 6000"/>
            </a:avLst>
          </a:prstGeom>
          <a:solidFill>
            <a:srgbClr val="F1F0FB"/>
          </a:solidFill>
          <a:ln w="12700">
            <a:solidFill>
              <a:srgbClr val="DC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3325" y="314325"/>
            <a:ext cx="4248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7" b="1">
                <a:solidFill>
                  <a:srgbClr val="5457C7"/>
                </a:solidFill>
                <a:latin typeface="Segoe UI"/>
              </a:rPr>
              <a:t>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3325" y="495300"/>
            <a:ext cx="424815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85" b="0">
                <a:solidFill>
                  <a:srgbClr val="3C485F"/>
                </a:solidFill>
                <a:latin typeface="Segoe UI"/>
              </a:rPr>
              <a:t>Route, diagnose and recommend a fix on every case in ~30–60s — grounded in real case history — so engineers act instead of investigate.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1228725"/>
            <a:ext cx="9201150" cy="666750"/>
          </a:xfrm>
          <a:prstGeom prst="roundRect">
            <a:avLst>
              <a:gd name="adj" fmla="val 6000"/>
            </a:avLst>
          </a:prstGeom>
          <a:solidFill>
            <a:srgbClr val="EEF6EF"/>
          </a:solidFill>
          <a:ln w="12700">
            <a:solidFill>
              <a:srgbClr val="CF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6075" y="1333500"/>
            <a:ext cx="8915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7" b="1">
                <a:solidFill>
                  <a:srgbClr val="2F7D5B"/>
                </a:solidFill>
                <a:latin typeface="Segoe UI"/>
              </a:rPr>
              <a:t>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6075" y="1514475"/>
            <a:ext cx="8915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85" b="0">
                <a:solidFill>
                  <a:srgbClr val="3C485F"/>
                </a:solidFill>
                <a:latin typeface="Segoe UI"/>
              </a:rPr>
              <a:t>A stateless orchestrator runs a Routing → Diagnosis → Recommendation → Mitigation pipeline on each case, posts one grounded note back, and safely auto-remediates only low-risk, high-confidence issues — every decision audited.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000250"/>
            <a:ext cx="92011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9AA6C0"/>
                </a:solidFill>
                <a:latin typeface="Segoe UI"/>
              </a:rPr>
              <a:t>SYSTEMS INTEGRATED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2190750"/>
            <a:ext cx="1032510" cy="2857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778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2190750"/>
            <a:ext cx="103251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2" b="1">
                <a:solidFill>
                  <a:srgbClr val="1E2A5E"/>
                </a:solidFill>
                <a:latin typeface="Segoe UI"/>
              </a:rPr>
              <a:t>Dynamics 365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70960" y="2190750"/>
            <a:ext cx="895350" cy="2857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778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70960" y="2190750"/>
            <a:ext cx="8953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2" b="1">
                <a:solidFill>
                  <a:srgbClr val="1E2A5E"/>
                </a:solidFill>
                <a:latin typeface="Segoe UI"/>
              </a:rPr>
              <a:t>ServiceNow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61560" y="2190750"/>
            <a:ext cx="1032510" cy="2857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778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1560" y="2190750"/>
            <a:ext cx="103251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2" b="1">
                <a:solidFill>
                  <a:srgbClr val="1E2A5E"/>
                </a:solidFill>
                <a:latin typeface="Segoe UI"/>
              </a:rPr>
              <a:t>Azure OpenAI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2190750"/>
            <a:ext cx="826770" cy="2857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778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2190750"/>
            <a:ext cx="82677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2" b="1">
                <a:solidFill>
                  <a:srgbClr val="1E2A5E"/>
                </a:solidFill>
                <a:latin typeface="Segoe UI"/>
              </a:rPr>
              <a:t>MCP Tools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11340" y="2190750"/>
            <a:ext cx="1512570" cy="2857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778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11340" y="2190750"/>
            <a:ext cx="151257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2" b="1">
                <a:solidFill>
                  <a:srgbClr val="1E2A5E"/>
                </a:solidFill>
                <a:latin typeface="Segoe UI"/>
              </a:rPr>
              <a:t>Postgres + pgvector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0" y="2638425"/>
            <a:ext cx="2965450" cy="285750"/>
          </a:xfrm>
          <a:prstGeom prst="roundRect">
            <a:avLst>
              <a:gd name="adj" fmla="val 12000"/>
            </a:avLst>
          </a:prstGeom>
          <a:solidFill>
            <a:srgbClr val="1E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0" y="2638425"/>
            <a:ext cx="29654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FEATURES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3000375"/>
            <a:ext cx="296545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25" b="1">
                <a:solidFill>
                  <a:srgbClr val="1E2A5E"/>
                </a:solidFill>
                <a:latin typeface="Segoe UI"/>
              </a:rPr>
              <a:t>•  </a:t>
            </a:r>
            <a:r>
              <a:rPr sz="825" b="0">
                <a:solidFill>
                  <a:srgbClr val="4A5673"/>
                </a:solidFill>
                <a:latin typeface="Segoe UI"/>
              </a:rPr>
              <a:t>Webhooks → dedupe → state machine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25" b="1">
                <a:solidFill>
                  <a:srgbClr val="1E2A5E"/>
                </a:solidFill>
                <a:latin typeface="Segoe UI"/>
              </a:rPr>
              <a:t>•  </a:t>
            </a:r>
            <a:r>
              <a:rPr sz="825" b="0">
                <a:solidFill>
                  <a:srgbClr val="4A5673"/>
                </a:solidFill>
                <a:latin typeface="Segoe UI"/>
              </a:rPr>
              <a:t>Skill- &amp; shift-aware routing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25" b="1">
                <a:solidFill>
                  <a:srgbClr val="1E2A5E"/>
                </a:solidFill>
                <a:latin typeface="Segoe UI"/>
              </a:rPr>
              <a:t>•  </a:t>
            </a:r>
            <a:r>
              <a:rPr sz="825" b="0">
                <a:solidFill>
                  <a:srgbClr val="4A5673"/>
                </a:solidFill>
                <a:latin typeface="Segoe UI"/>
              </a:rPr>
              <a:t>Similarity-grounded diagnosis (pgvector)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25" b="1">
                <a:solidFill>
                  <a:srgbClr val="1E2A5E"/>
                </a:solidFill>
                <a:latin typeface="Segoe UI"/>
              </a:rPr>
              <a:t>•  </a:t>
            </a:r>
            <a:r>
              <a:rPr sz="825" b="0">
                <a:solidFill>
                  <a:srgbClr val="4A5673"/>
                </a:solidFill>
                <a:latin typeface="Segoe UI"/>
              </a:rPr>
              <a:t>Hot Fix + Ultimate Fix, allowlisted links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25" b="1">
                <a:solidFill>
                  <a:srgbClr val="1E2A5E"/>
                </a:solidFill>
                <a:latin typeface="Segoe UI"/>
              </a:rPr>
              <a:t>•  </a:t>
            </a:r>
            <a:r>
              <a:rPr sz="825" b="0">
                <a:solidFill>
                  <a:srgbClr val="4A5673"/>
                </a:solidFill>
                <a:latin typeface="Segoe UI"/>
              </a:rPr>
              <a:t>Guarded auto-remediation + kill switch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61050" y="2638425"/>
            <a:ext cx="2965450" cy="285750"/>
          </a:xfrm>
          <a:prstGeom prst="roundRect">
            <a:avLst>
              <a:gd name="adj" fmla="val 12000"/>
            </a:avLst>
          </a:prstGeom>
          <a:solidFill>
            <a:srgbClr val="1E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61050" y="2638425"/>
            <a:ext cx="29654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USE CASES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61050" y="3000375"/>
            <a:ext cx="296545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25" b="1">
                <a:solidFill>
                  <a:srgbClr val="1E2A5E"/>
                </a:solidFill>
                <a:latin typeface="Segoe UI"/>
              </a:rPr>
              <a:t>•  </a:t>
            </a:r>
            <a:r>
              <a:rPr sz="825" b="0">
                <a:solidFill>
                  <a:srgbClr val="4A5673"/>
                </a:solidFill>
                <a:latin typeface="Segoe UI"/>
              </a:rPr>
              <a:t>K8s / Karpenter incidents auto-triaged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25" b="1">
                <a:solidFill>
                  <a:srgbClr val="1E2A5E"/>
                </a:solidFill>
                <a:latin typeface="Segoe UI"/>
              </a:rPr>
              <a:t>•  </a:t>
            </a:r>
            <a:r>
              <a:rPr sz="825" b="0">
                <a:solidFill>
                  <a:srgbClr val="4A5673"/>
                </a:solidFill>
                <a:latin typeface="Segoe UI"/>
              </a:rPr>
              <a:t>Reopened cases → escalated recommendation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25" b="1">
                <a:solidFill>
                  <a:srgbClr val="1E2A5E"/>
                </a:solidFill>
                <a:latin typeface="Segoe UI"/>
              </a:rPr>
              <a:t>•  </a:t>
            </a:r>
            <a:r>
              <a:rPr sz="825" b="0">
                <a:solidFill>
                  <a:srgbClr val="4A5673"/>
                </a:solidFill>
                <a:latin typeface="Segoe UI"/>
              </a:rPr>
              <a:t>Manager SLA-risk dashboard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25" b="1">
                <a:solidFill>
                  <a:srgbClr val="1E2A5E"/>
                </a:solidFill>
                <a:latin typeface="Segoe UI"/>
              </a:rPr>
              <a:t>•  </a:t>
            </a:r>
            <a:r>
              <a:rPr sz="825" b="0">
                <a:solidFill>
                  <a:srgbClr val="4A5673"/>
                </a:solidFill>
                <a:latin typeface="Segoe UI"/>
              </a:rPr>
              <a:t>👍/👎 feedback regenerates the answer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25" b="1">
                <a:solidFill>
                  <a:srgbClr val="1E2A5E"/>
                </a:solidFill>
                <a:latin typeface="Segoe UI"/>
              </a:rPr>
              <a:t>•  </a:t>
            </a:r>
            <a:r>
              <a:rPr sz="825" b="0">
                <a:solidFill>
                  <a:srgbClr val="4A5673"/>
                </a:solidFill>
                <a:latin typeface="Segoe UI"/>
              </a:rPr>
              <a:t>MCP tools reused by Copilot Studio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78900" y="2638425"/>
            <a:ext cx="2965450" cy="285750"/>
          </a:xfrm>
          <a:prstGeom prst="roundRect">
            <a:avLst>
              <a:gd name="adj" fmla="val 12000"/>
            </a:avLst>
          </a:prstGeom>
          <a:solidFill>
            <a:srgbClr val="1E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78900" y="2638425"/>
            <a:ext cx="29654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BENEFITS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8900" y="3000375"/>
            <a:ext cx="296545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25" b="1">
                <a:solidFill>
                  <a:srgbClr val="1E2A5E"/>
                </a:solidFill>
                <a:latin typeface="Segoe UI"/>
              </a:rPr>
              <a:t>•  </a:t>
            </a:r>
            <a:r>
              <a:rPr sz="825" b="0">
                <a:solidFill>
                  <a:srgbClr val="4A5673"/>
                </a:solidFill>
                <a:latin typeface="Segoe UI"/>
              </a:rPr>
              <a:t>~30–60s case → recommendation, 24/7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25" b="1">
                <a:solidFill>
                  <a:srgbClr val="1E2A5E"/>
                </a:solidFill>
                <a:latin typeface="Segoe UI"/>
              </a:rPr>
              <a:t>•  </a:t>
            </a:r>
            <a:r>
              <a:rPr sz="825" b="0">
                <a:solidFill>
                  <a:srgbClr val="4A5673"/>
                </a:solidFill>
                <a:latin typeface="Segoe UI"/>
              </a:rPr>
              <a:t>Grounded — no hallucinated fixes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25" b="1">
                <a:solidFill>
                  <a:srgbClr val="1E2A5E"/>
                </a:solidFill>
                <a:latin typeface="Segoe UI"/>
              </a:rPr>
              <a:t>•  </a:t>
            </a:r>
            <a:r>
              <a:rPr sz="825" b="0">
                <a:solidFill>
                  <a:srgbClr val="4A5673"/>
                </a:solidFill>
                <a:latin typeface="Segoe UI"/>
              </a:rPr>
              <a:t>Graceful degradation, no single point of failure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25" b="1">
                <a:solidFill>
                  <a:srgbClr val="1E2A5E"/>
                </a:solidFill>
                <a:latin typeface="Segoe UI"/>
              </a:rPr>
              <a:t>•  </a:t>
            </a:r>
            <a:r>
              <a:rPr sz="825" b="0">
                <a:solidFill>
                  <a:srgbClr val="4A5673"/>
                </a:solidFill>
                <a:latin typeface="Segoe UI"/>
              </a:rPr>
              <a:t>Safety-first: suggests, acts only behind gates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25" b="1">
                <a:solidFill>
                  <a:srgbClr val="1E2A5E"/>
                </a:solidFill>
                <a:latin typeface="Segoe UI"/>
              </a:rPr>
              <a:t>•  </a:t>
            </a:r>
            <a:r>
              <a:rPr sz="825" b="0">
                <a:solidFill>
                  <a:srgbClr val="4A5673"/>
                </a:solidFill>
                <a:latin typeface="Segoe UI"/>
              </a:rPr>
              <a:t>Full audit trail of every AI decision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4210050"/>
            <a:ext cx="92011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9AA6C0"/>
                </a:solidFill>
                <a:latin typeface="Segoe UI"/>
              </a:rPr>
              <a:t>DELIVERY ROADMAP — 4 PHASES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0" y="4400550"/>
            <a:ext cx="2214562" cy="981075"/>
          </a:xfrm>
          <a:prstGeom prst="roundRect">
            <a:avLst>
              <a:gd name="adj" fmla="val 6000"/>
            </a:avLst>
          </a:prstGeom>
          <a:solidFill>
            <a:srgbClr val="E8EDFD"/>
          </a:solidFill>
          <a:ln w="12700">
            <a:solidFill>
              <a:srgbClr val="C3D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57500" y="4495800"/>
            <a:ext cx="198596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>
                <a:solidFill>
                  <a:srgbClr val="1E2A5E"/>
                </a:solidFill>
                <a:latin typeface="Segoe UI"/>
              </a:rPr>
              <a:t>Phase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57500" y="4495800"/>
            <a:ext cx="198596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75" b="1">
                <a:solidFill>
                  <a:srgbClr val="E23B4E"/>
                </a:solidFill>
                <a:latin typeface="Segoe UI"/>
              </a:rPr>
              <a:t>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57500" y="4667250"/>
            <a:ext cx="1985962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7" b="0" i="1">
                <a:solidFill>
                  <a:srgbClr val="6A74A0"/>
                </a:solidFill>
                <a:latin typeface="Segoe UI"/>
              </a:rPr>
              <a:t>Orchestration &amp; Grounded Recommendations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57500" y="4953000"/>
            <a:ext cx="1985962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72" b="1">
                <a:solidFill>
                  <a:srgbClr val="1E2A5E"/>
                </a:solidFill>
                <a:latin typeface="Segoe UI"/>
              </a:rPr>
              <a:t>Now:</a:t>
            </a:r>
            <a:r>
              <a:rPr sz="772" b="0">
                <a:solidFill>
                  <a:srgbClr val="4A5673"/>
                </a:solidFill>
                <a:latin typeface="Segoe UI"/>
              </a:rPr>
              <a:t> Routing→Diagnosis→Recommendation, pgvector, D365 write-back, audit log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72062" y="4400550"/>
            <a:ext cx="2214562" cy="981075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 w="12700">
            <a:solidFill>
              <a:srgbClr val="DC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86362" y="4495800"/>
            <a:ext cx="198596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>
                <a:solidFill>
                  <a:srgbClr val="1E2A5E"/>
                </a:solidFill>
                <a:latin typeface="Segoe UI"/>
              </a:rPr>
              <a:t>Phase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86362" y="4667250"/>
            <a:ext cx="1985962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7" b="0" i="1">
                <a:solidFill>
                  <a:srgbClr val="6A74A0"/>
                </a:solidFill>
                <a:latin typeface="Segoe UI"/>
              </a:rPr>
              <a:t>MCP Engine &amp; Tooling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86362" y="4953000"/>
            <a:ext cx="1985962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72" b="1">
                <a:solidFill>
                  <a:srgbClr val="1E2A5E"/>
                </a:solidFill>
                <a:latin typeface="Segoe UI"/>
              </a:rPr>
              <a:t>Now:</a:t>
            </a:r>
            <a:r>
              <a:rPr sz="772" b="0">
                <a:solidFill>
                  <a:srgbClr val="4A5673"/>
                </a:solidFill>
                <a:latin typeface="Segoe UI"/>
              </a:rPr>
              <a:t> reasoning/knowledge/dataverse servers, dual-engine flag → Copilot Studio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00925" y="4400550"/>
            <a:ext cx="2214562" cy="981075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 w="12700">
            <a:solidFill>
              <a:srgbClr val="DC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15225" y="4495800"/>
            <a:ext cx="198596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>
                <a:solidFill>
                  <a:srgbClr val="1E2A5E"/>
                </a:solidFill>
                <a:latin typeface="Segoe UI"/>
              </a:rPr>
              <a:t>Phase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15225" y="4667250"/>
            <a:ext cx="1985962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7" b="0" i="1">
                <a:solidFill>
                  <a:srgbClr val="6A74A0"/>
                </a:solidFill>
                <a:latin typeface="Segoe UI"/>
              </a:rPr>
              <a:t>Guarded Auto-Remediation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15225" y="4953000"/>
            <a:ext cx="1985962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72" b="1">
                <a:solidFill>
                  <a:srgbClr val="1E2A5E"/>
                </a:solidFill>
                <a:latin typeface="Segoe UI"/>
              </a:rPr>
              <a:t>Now:</a:t>
            </a:r>
            <a:r>
              <a:rPr sz="772" b="0">
                <a:solidFill>
                  <a:srgbClr val="4A5673"/>
                </a:solidFill>
                <a:latin typeface="Segoe UI"/>
              </a:rPr>
              <a:t> safety gate + kill switch + verify-then-revert → real runbook execution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729788" y="4400550"/>
            <a:ext cx="2214562" cy="981075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 w="12700">
            <a:solidFill>
              <a:srgbClr val="DC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44088" y="4495800"/>
            <a:ext cx="198596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>
                <a:solidFill>
                  <a:srgbClr val="1E2A5E"/>
                </a:solidFill>
                <a:latin typeface="Segoe UI"/>
              </a:rPr>
              <a:t>Phase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44088" y="4667250"/>
            <a:ext cx="1985962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7" b="0" i="1">
                <a:solidFill>
                  <a:srgbClr val="6A74A0"/>
                </a:solidFill>
                <a:latin typeface="Segoe UI"/>
              </a:rPr>
              <a:t>Feedback Loop &amp; Manager Ops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44088" y="4953000"/>
            <a:ext cx="1985962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72" b="1">
                <a:solidFill>
                  <a:srgbClr val="1E2A5E"/>
                </a:solidFill>
                <a:latin typeface="Segoe UI"/>
              </a:rPr>
              <a:t>Now:</a:t>
            </a:r>
            <a:r>
              <a:rPr sz="772" b="0">
                <a:solidFill>
                  <a:srgbClr val="4A5673"/>
                </a:solidFill>
                <a:latin typeface="Segoe UI"/>
              </a:rPr>
              <a:t> 👍/👎 regeneration, KB ranking, SLA dashboard → approve-and-execute flow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0" y="6534150"/>
            <a:ext cx="9201150" cy="9525"/>
          </a:xfrm>
          <a:prstGeom prst="rect">
            <a:avLst/>
          </a:prstGeom>
          <a:solidFill>
            <a:srgbClr val="DF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0" y="6591300"/>
            <a:ext cx="86296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95A1BC"/>
                </a:solidFill>
                <a:latin typeface="Segoe UI"/>
              </a:rPr>
              <a:t>Quest — AI Support Agent  ·  PeopleTech Group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6591300"/>
            <a:ext cx="9201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25" b="0">
                <a:solidFill>
                  <a:srgbClr val="95A1BC"/>
                </a:solidFill>
                <a:latin typeface="Segoe UI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
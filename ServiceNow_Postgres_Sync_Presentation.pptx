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Today I'm going to walk you through a project I just completed: fully automating the flow of tickets from our ServiceNow instance into a PostgreSQL database. I'll cover the problem we were solving, how I built it, how I made it run automatically and reliably, and then show the trade-offs so we can decide together whether this is production-ready or needs further investment.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run-through of the agenda — I'll move through the architecture and implementation, then spend extra time on the trade-offs slide because that's where I'd like your input on next steps.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why we needed this. Our tickets live inside ServiceNow, which is great for managing support workflows, but it's isolated from our own systems and databases — so any time we wanted to analyze or cross-reference ticket data with our application data, it meant manual CSV exports. The ask had two parts: first, do a one-time migration of everything that already exists; second — and this is the more valuable part — make it so any new ticket automatically lands in our database within seconds, forever, with no manual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entire pipeline in one picture, top to bottom. When someone creates or edits a ticket in ServiceNow, a small rule I configured fires automatically and sends a notification out to the public internet. That notification travels through a secure tunnel to a small program running on my machine, which then asks ServiceNow for the full, authoritative copy of that ticket, and writes it into Postgres. End to end, this happens in about 2 to 5 seconds — fully automatically, no human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step was the database itself. I deliberately created a brand new database called 'servicenow_tickets' rather than touching our existing project database — that way there's zero risk of breaking anything we already depend on. I designed the table to mirror ServiceNow's important fields, and — this is a small but important detail — I also store the complete original record as JSON, as a safety net, so we never permanently lose any data even if we didn't think to map a particular field into its own column. The most important design decision was making ServiceNow's internal ID, sys_id, a UNIQUE key in our table — that's what lets us safely 'upsert': insert a ticket if it's new, update it if we've already seen it. That single decision is what makes the whole system safe to re-run as many times as we want without ever creating duplicate rows.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table ready, I wrote a backfill script — basically a one-time bulk importer. It calls ServiceNow's REST API, which is the standard way external systems read ServiceNow data, pages through all the records, and writes each one into Postgres. I ran it, and it successfully pulled in all six hundred ninety-nine existing tickets — I verified this directly with a SQL count query against the database, not just trusting the script's own output. And critically — this script isn't a 'run once and forget' tool. Because of the upsert design from the previous slide, we can run it again anytime — for example as a safety-net catch-up mechanism — and it will never create duplicate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the live-sync piece, which has three parts working together — let's take them one at a time. First: the webhook receiver. This is a small, purpose-built web service I wrote that does one job — listen for 'a ticket just changed' notifications. When it receives one, it does three things: checks a secret key so random internet traffic can't feed it fake data, then — and this is a deliberate security and correctness choice — it does NOT trust the data inside the notification. Instead it goes back to ServiceNow and asks for the full, current, authoritative version of that specific ticket, and only then writes it to Postgres. This guards against any tampering or partial/stale data in transit.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piece — the tunnel. Here's the challenge: ServiceNow lives in the cloud and needs to 'call' our webhook receiver, but our receiver runs on a local machine, which by design cannot be reached directly from the internet — that's actually a sensible security default we don't want to compromise. The solution is a tool called Cloudflare Tunnel. It creates a secure, temporary public web address, and anything sent to that address gets forwarded straight through, encrypted, to our local machine — without us opening any firewall ports or exposing the machine directly. It's the same category of technology many companies use for secure remote access.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and final piece of the live-sync puzzle — a 'Business Rule' inside ServiceNow. This is essentially a small piece of automation logic that lives inside ServiceNow itself. I configured it — directly through ServiceNow's own API, so no manual click-through was needed — to fire automatically every time a ticket is created or updated, and to send a small notification out to our tunnel's address. The key point here: nobody using ServiceNow has to change how they work AT ALL. They create a ticket exactly like they always have. This rule fires silently in the background and kicks off the entire chain we just walked through.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bring it all together — this is the complete chain, restated as a single story. You create a ticket, exactly as you always have. ServiceNow saves it and, completely invisibly to you, fires our rule. That rule pings our tunnel, the tunnel forwards it to our receiver, the receiver double-checks with ServiceNow for the authoritative data, and writes it to Postgres. I want to stress: this is not theoretical — I tested this exact chain live, end to end, multiple times, and I'll show you the proof in a few slides.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 making it durable. If I'd just run these two programs from a terminal window, closing that window would have killed the whole sync. So instead, I registered both pieces — the webhook receiver and the tunnel — as proper background services using macOS's own service manager, called launchd. This is literally the same system macOS uses to run its own internal services. I configured them to start automatically the moment you log in, and to automatically restart themselves if they ever crash for any reason. The net effect: this sync now 'just runs', indefinitely, in the background — nobody has to remember to start it, and it recovers from problems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subtlety I ran into — and solved — that's worth highlighting because it shows the difference between a 'demo that works once' and something genuinely reliable. The free version of the tunnel tool generates a brand new, random public web address every single time it restarts. If that address changes but ServiceNow's rule is still pointing at the old, dead address, the entire sync silently breaks with no warning. So I built a small watcher program that continuously monitors for that address changing, and the instant it does, automatically calls ServiceNow's API and rewrites the Business Rule to point at the new address — with no human involvement. I actually watched this happen live during setup: the address changed, the watcher caught it, fixed ServiceNow automatically, and a test ticket flowed through the brand new address successfully within seconds. That's the kind of self-healing behavior you want in something that has to run unattended.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very clear that none of this is theoretical or 'should work' — I tested every single stage independently, and then tested the whole chain end to end with real tickets. I created actual test tickets directly inside ServiceNow, and watched them appear automatically in Postgres within about five seconds, with zero manual intervention. I verified the database connection, the data import count, the webhook responding and logging each upsert, the tunnel being publicly reachable, the Business Rule existing and firing, the self-healing recovery — and the background services reporting healthy status. Every checkbox on this slide was independently confirmed, not assumed.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trade-offs honestly — this is the part where I'd really like your input. On the left: what this approach gets us, and it's quite a lot — fully automatic syncing, safe to re-run without creating duplicates, self-healing, survives reboots, and built with security in mind from the start using a secret key and re-verification against the source of truth. On the right: the honest limitations. The biggest one is that this currently depends on my laptop being on and connected — if it's off, new tickets simply won't sync until it's back (though nothing is lost forever; we can always re-run the backfill to catch up). The free tunnel also isn't an enterprise-grade guaranteed-uptime product, and there's no retry queue if a single notification gets dropped. For a short-term win and for proving the concept, this is excellent and fully working today. For a long-term, mission-critical setup, I'd recommend we discuss moving the receiver to a proper server with a fixed address — which is a relatively small follow-up step from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thing worth mentioning — operability. This isn't something that requires me to remember to start it every morning. It starts itself on login and keeps itself alive. If anyone ever wants to double check it's healthy, there are two one-line commands that take about ten seconds combined. And if we ever suspect something was missed, there's a single safe command that re-syncs everything from scratch without creating any duplicates. I've also written up full documentation in the repo so any teammate could pick this up without 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does this leave us? As of today, this is fully working, fully automated, and I've tested it end to end — it's ready to use right now. If we decide we want to invest further, the natural next steps would be: moving the receiver to a proper server so it doesn't depend on my laptop, adding a retry mechanism so we never lose even a single notification, adding monitoring so we'd be alerted if it ever stopped, and potentially opening this data up to the wider team with proper access controls. My personal recommendation is to run it as-is for a while, prove out the value it delivers, and then make a more informed call on whether the additional investment in hosting is worth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full picture — from the original problem, through the design decisions, the build, the testing, and an honest look at the trade-offs. I'm happy to open it up for questions, walk through any part of it live, show you the actual data in the database, or go deeper into any of the trade-offs we should plan around.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645920"/>
          </a:xfrm>
          <a:prstGeom prst="rect">
            <a:avLst/>
          </a:prstGeom>
          <a:noFill/>
        </p:spPr>
        <p:txBody>
          <a:bodyPr wrap="square">
            <a:spAutoFit/>
          </a:bodyPr>
          <a:lstStyle/>
          <a:p>
            <a:pPr>
              <a:defRPr sz="4000" b="1">
                <a:solidFill>
                  <a:srgbClr val="FFFFFF"/>
                </a:solidFill>
              </a:defRPr>
            </a:pPr>
            <a:r>
              <a:t>ServiceNow → PostgreSQL</a:t>
            </a:r>
            <a:br/>
            <a:r>
              <a:t>Automated Ticket Sync</a:t>
            </a:r>
          </a:p>
        </p:txBody>
      </p:sp>
      <p:sp>
        <p:nvSpPr>
          <p:cNvPr id="4" name="TextBox 3"/>
          <p:cNvSpPr txBox="1"/>
          <p:nvPr/>
        </p:nvSpPr>
        <p:spPr>
          <a:xfrm>
            <a:off x="731520" y="3840480"/>
            <a:ext cx="10698480" cy="1371600"/>
          </a:xfrm>
          <a:prstGeom prst="rect">
            <a:avLst/>
          </a:prstGeom>
          <a:noFill/>
        </p:spPr>
        <p:txBody>
          <a:bodyPr wrap="square">
            <a:spAutoFit/>
          </a:bodyPr>
          <a:lstStyle/>
          <a:p>
            <a:pPr>
              <a:defRPr sz="2000">
                <a:solidFill>
                  <a:srgbClr val="D6E4F0"/>
                </a:solidFill>
              </a:defRPr>
            </a:pPr>
            <a:r>
              <a:t>How every ServiceNow ticket now flows into our database automatically — design, implementation, and live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Agenda</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1.  The problem &amp; goal</a:t>
            </a:r>
          </a:p>
          <a:p>
            <a:pPr>
              <a:spcAft>
                <a:spcPts val="800"/>
              </a:spcAft>
              <a:defRPr sz="1800" b="1">
                <a:solidFill>
                  <a:srgbClr val="1F3A5F"/>
                </a:solidFill>
              </a:defRPr>
            </a:pPr>
            <a:r>
              <a:t>2.  Solution architecture at a glance</a:t>
            </a:r>
          </a:p>
          <a:p>
            <a:pPr>
              <a:spcAft>
                <a:spcPts val="800"/>
              </a:spcAft>
              <a:defRPr sz="1800" b="1">
                <a:solidFill>
                  <a:srgbClr val="1F3A5F"/>
                </a:solidFill>
              </a:defRPr>
            </a:pPr>
            <a:r>
              <a:t>3.  Step 1 — Setting up the database</a:t>
            </a:r>
          </a:p>
          <a:p>
            <a:pPr>
              <a:spcAft>
                <a:spcPts val="800"/>
              </a:spcAft>
              <a:defRPr sz="1800" b="1">
                <a:solidFill>
                  <a:srgbClr val="1F3A5F"/>
                </a:solidFill>
              </a:defRPr>
            </a:pPr>
            <a:r>
              <a:t>4.  Step 2 — Importing all existing tickets (backfill)</a:t>
            </a:r>
          </a:p>
          <a:p>
            <a:pPr>
              <a:spcAft>
                <a:spcPts val="800"/>
              </a:spcAft>
              <a:defRPr sz="1800" b="1">
                <a:solidFill>
                  <a:srgbClr val="1F3A5F"/>
                </a:solidFill>
              </a:defRPr>
            </a:pPr>
            <a:r>
              <a:t>5.  Step 3 — Building real-time automatic sync</a:t>
            </a:r>
          </a:p>
          <a:p>
            <a:pPr>
              <a:spcAft>
                <a:spcPts val="800"/>
              </a:spcAft>
              <a:defRPr sz="1800" b="1">
                <a:solidFill>
                  <a:srgbClr val="1F3A5F"/>
                </a:solidFill>
              </a:defRPr>
            </a:pPr>
            <a:r>
              <a:t>6.  Step 4 — Making it durable &amp; self-healing</a:t>
            </a:r>
          </a:p>
          <a:p>
            <a:pPr>
              <a:spcAft>
                <a:spcPts val="800"/>
              </a:spcAft>
              <a:defRPr sz="1800" b="1">
                <a:solidFill>
                  <a:srgbClr val="1F3A5F"/>
                </a:solidFill>
              </a:defRPr>
            </a:pPr>
            <a:r>
              <a:t>7.  Live proof / verification results</a:t>
            </a:r>
          </a:p>
          <a:p>
            <a:pPr>
              <a:spcAft>
                <a:spcPts val="800"/>
              </a:spcAft>
              <a:defRPr sz="1800" b="1">
                <a:solidFill>
                  <a:srgbClr val="1F3A5F"/>
                </a:solidFill>
              </a:defRPr>
            </a:pPr>
            <a:r>
              <a:t>8.  Advantages &amp; disadvantages</a:t>
            </a:r>
          </a:p>
          <a:p>
            <a:pPr>
              <a:spcAft>
                <a:spcPts val="800"/>
              </a:spcAft>
              <a:defRPr sz="1800" b="1">
                <a:solidFill>
                  <a:srgbClr val="1F3A5F"/>
                </a:solidFill>
              </a:defRPr>
            </a:pPr>
            <a:r>
              <a:t>9.  Recommendations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The Problem &amp; The Goal</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The problem</a:t>
            </a:r>
          </a:p>
          <a:p>
            <a:pPr lvl="1">
              <a:spcAft>
                <a:spcPts val="800"/>
              </a:spcAft>
              <a:defRPr sz="1500" b="0">
                <a:solidFill>
                  <a:srgbClr val="5D6D7E"/>
                </a:solidFill>
              </a:defRPr>
            </a:pPr>
            <a:r>
              <a:t>Tickets live inside ServiceNow only — no easy way to query, join, or analyze them alongside our own application data</a:t>
            </a:r>
          </a:p>
          <a:p>
            <a:pPr lvl="1">
              <a:spcAft>
                <a:spcPts val="800"/>
              </a:spcAft>
              <a:defRPr sz="1500" b="0">
                <a:solidFill>
                  <a:srgbClr val="5D6D7E"/>
                </a:solidFill>
              </a:defRPr>
            </a:pPr>
            <a:r>
              <a:t>Any reporting/analysis on ticket data meant manual exports</a:t>
            </a:r>
          </a:p>
          <a:p>
            <a:pPr>
              <a:spcAft>
                <a:spcPts val="800"/>
              </a:spcAft>
              <a:defRPr sz="1800" b="1">
                <a:solidFill>
                  <a:srgbClr val="1F3A5F"/>
                </a:solidFill>
              </a:defRPr>
            </a:pPr>
          </a:p>
          <a:p>
            <a:pPr>
              <a:spcAft>
                <a:spcPts val="800"/>
              </a:spcAft>
              <a:defRPr sz="1800" b="1">
                <a:solidFill>
                  <a:srgbClr val="1F3A5F"/>
                </a:solidFill>
              </a:defRPr>
            </a:pPr>
            <a:r>
              <a:t>The goal — two parts</a:t>
            </a:r>
          </a:p>
          <a:p>
            <a:pPr lvl="1">
              <a:spcAft>
                <a:spcPts val="800"/>
              </a:spcAft>
              <a:defRPr sz="1500" b="0">
                <a:solidFill>
                  <a:srgbClr val="5D6D7E"/>
                </a:solidFill>
              </a:defRPr>
            </a:pPr>
            <a:r>
              <a:t>Part A: One-time migration — copy every existing ServiceNow ticket into our PostgreSQL database</a:t>
            </a:r>
          </a:p>
          <a:p>
            <a:pPr lvl="1">
              <a:spcAft>
                <a:spcPts val="800"/>
              </a:spcAft>
              <a:defRPr sz="1500" b="0">
                <a:solidFill>
                  <a:srgbClr val="5D6D7E"/>
                </a:solidFill>
              </a:defRPr>
            </a:pPr>
            <a:r>
              <a:t>Part B: Ongoing automation — every NEW ticket created (or updated) in ServiceNow should appear in Postgres automatically, with zero manual steps, in near real-time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Solution at a Glance — The Full Data Flow</a:t>
            </a:r>
          </a:p>
        </p:txBody>
      </p:sp>
      <p:sp>
        <p:nvSpPr>
          <p:cNvPr id="4" name="Rectangle 3"/>
          <p:cNvSpPr/>
          <p:nvPr/>
        </p:nvSpPr>
        <p:spPr>
          <a:xfrm>
            <a:off x="838047" y="1234440"/>
            <a:ext cx="10515600"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1.  User creates / updates a ticket in ServiceNow (the 'incident' table)</a:t>
            </a:r>
          </a:p>
        </p:txBody>
      </p:sp>
      <p:sp>
        <p:nvSpPr>
          <p:cNvPr id="5" name="TextBox 4"/>
          <p:cNvSpPr txBox="1"/>
          <p:nvPr/>
        </p:nvSpPr>
        <p:spPr>
          <a:xfrm>
            <a:off x="5821527" y="1783080"/>
            <a:ext cx="548640" cy="164592"/>
          </a:xfrm>
          <a:prstGeom prst="rect">
            <a:avLst/>
          </a:prstGeom>
          <a:noFill/>
        </p:spPr>
        <p:txBody>
          <a:bodyPr wrap="none">
            <a:spAutoFit/>
          </a:bodyPr>
          <a:lstStyle/>
          <a:p>
            <a:pPr algn="ctr">
              <a:defRPr sz="1600" b="1">
                <a:solidFill>
                  <a:srgbClr val="1F3A5F"/>
                </a:solidFill>
              </a:defRPr>
            </a:pPr>
            <a:r>
              <a:t>↓</a:t>
            </a:r>
          </a:p>
        </p:txBody>
      </p:sp>
      <p:sp>
        <p:nvSpPr>
          <p:cNvPr id="6" name="Rectangle 5"/>
          <p:cNvSpPr/>
          <p:nvPr/>
        </p:nvSpPr>
        <p:spPr>
          <a:xfrm>
            <a:off x="838047" y="1965960"/>
            <a:ext cx="10515600"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2.  ServiceNow's Business Rule fires automatically (configured by us via API)</a:t>
            </a:r>
          </a:p>
        </p:txBody>
      </p:sp>
      <p:sp>
        <p:nvSpPr>
          <p:cNvPr id="7" name="TextBox 6"/>
          <p:cNvSpPr txBox="1"/>
          <p:nvPr/>
        </p:nvSpPr>
        <p:spPr>
          <a:xfrm>
            <a:off x="5821527" y="2514600"/>
            <a:ext cx="548640" cy="164592"/>
          </a:xfrm>
          <a:prstGeom prst="rect">
            <a:avLst/>
          </a:prstGeom>
          <a:noFill/>
        </p:spPr>
        <p:txBody>
          <a:bodyPr wrap="none">
            <a:spAutoFit/>
          </a:bodyPr>
          <a:lstStyle/>
          <a:p>
            <a:pPr algn="ctr">
              <a:defRPr sz="1600" b="1">
                <a:solidFill>
                  <a:srgbClr val="1F3A5F"/>
                </a:solidFill>
              </a:defRPr>
            </a:pPr>
            <a:r>
              <a:t>↓</a:t>
            </a:r>
          </a:p>
        </p:txBody>
      </p:sp>
      <p:sp>
        <p:nvSpPr>
          <p:cNvPr id="8" name="Rectangle 7"/>
          <p:cNvSpPr/>
          <p:nvPr/>
        </p:nvSpPr>
        <p:spPr>
          <a:xfrm>
            <a:off x="838047" y="2697480"/>
            <a:ext cx="10515600"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3.  Business Rule sends a notification (POST request) to our webhook's public address</a:t>
            </a:r>
          </a:p>
        </p:txBody>
      </p:sp>
      <p:sp>
        <p:nvSpPr>
          <p:cNvPr id="9" name="TextBox 8"/>
          <p:cNvSpPr txBox="1"/>
          <p:nvPr/>
        </p:nvSpPr>
        <p:spPr>
          <a:xfrm>
            <a:off x="5821527" y="3246120"/>
            <a:ext cx="548640" cy="164592"/>
          </a:xfrm>
          <a:prstGeom prst="rect">
            <a:avLst/>
          </a:prstGeom>
          <a:noFill/>
        </p:spPr>
        <p:txBody>
          <a:bodyPr wrap="none">
            <a:spAutoFit/>
          </a:bodyPr>
          <a:lstStyle/>
          <a:p>
            <a:pPr algn="ctr">
              <a:defRPr sz="1600" b="1">
                <a:solidFill>
                  <a:srgbClr val="1F3A5F"/>
                </a:solidFill>
              </a:defRPr>
            </a:pPr>
            <a:r>
              <a:t>↓</a:t>
            </a:r>
          </a:p>
        </p:txBody>
      </p:sp>
      <p:sp>
        <p:nvSpPr>
          <p:cNvPr id="10" name="Rectangle 9"/>
          <p:cNvSpPr/>
          <p:nvPr/>
        </p:nvSpPr>
        <p:spPr>
          <a:xfrm>
            <a:off x="838047" y="3429000"/>
            <a:ext cx="10515600"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4.  Cloudflare Tunnel forwards that request securely to our local machine</a:t>
            </a:r>
          </a:p>
        </p:txBody>
      </p:sp>
      <p:sp>
        <p:nvSpPr>
          <p:cNvPr id="11" name="TextBox 10"/>
          <p:cNvSpPr txBox="1"/>
          <p:nvPr/>
        </p:nvSpPr>
        <p:spPr>
          <a:xfrm>
            <a:off x="5821527" y="3977640"/>
            <a:ext cx="548640" cy="164592"/>
          </a:xfrm>
          <a:prstGeom prst="rect">
            <a:avLst/>
          </a:prstGeom>
          <a:noFill/>
        </p:spPr>
        <p:txBody>
          <a:bodyPr wrap="none">
            <a:spAutoFit/>
          </a:bodyPr>
          <a:lstStyle/>
          <a:p>
            <a:pPr algn="ctr">
              <a:defRPr sz="1600" b="1">
                <a:solidFill>
                  <a:srgbClr val="1F3A5F"/>
                </a:solidFill>
              </a:defRPr>
            </a:pPr>
            <a:r>
              <a:t>↓</a:t>
            </a:r>
          </a:p>
        </p:txBody>
      </p:sp>
      <p:sp>
        <p:nvSpPr>
          <p:cNvPr id="12" name="Rectangle 11"/>
          <p:cNvSpPr/>
          <p:nvPr/>
        </p:nvSpPr>
        <p:spPr>
          <a:xfrm>
            <a:off x="838047" y="4160520"/>
            <a:ext cx="10515600"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5.  Our Webhook Receiver gets notified, re-fetches the FULL ticket from ServiceNow</a:t>
            </a:r>
          </a:p>
        </p:txBody>
      </p:sp>
      <p:sp>
        <p:nvSpPr>
          <p:cNvPr id="13" name="TextBox 12"/>
          <p:cNvSpPr txBox="1"/>
          <p:nvPr/>
        </p:nvSpPr>
        <p:spPr>
          <a:xfrm>
            <a:off x="5821527" y="4709160"/>
            <a:ext cx="548640" cy="164592"/>
          </a:xfrm>
          <a:prstGeom prst="rect">
            <a:avLst/>
          </a:prstGeom>
          <a:noFill/>
        </p:spPr>
        <p:txBody>
          <a:bodyPr wrap="none">
            <a:spAutoFit/>
          </a:bodyPr>
          <a:lstStyle/>
          <a:p>
            <a:pPr algn="ctr">
              <a:defRPr sz="1600" b="1">
                <a:solidFill>
                  <a:srgbClr val="1F3A5F"/>
                </a:solidFill>
              </a:defRPr>
            </a:pPr>
            <a:r>
              <a:t>↓</a:t>
            </a:r>
          </a:p>
        </p:txBody>
      </p:sp>
      <p:sp>
        <p:nvSpPr>
          <p:cNvPr id="14" name="Rectangle 13"/>
          <p:cNvSpPr/>
          <p:nvPr/>
        </p:nvSpPr>
        <p:spPr>
          <a:xfrm>
            <a:off x="838047" y="4892040"/>
            <a:ext cx="10515600"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6.  Webhook upserts (insert-or-update) the ticket into the PostgreSQL 'servicenow_tickets' table</a:t>
            </a:r>
          </a:p>
        </p:txBody>
      </p:sp>
      <p:sp>
        <p:nvSpPr>
          <p:cNvPr id="15" name="TextBox 14"/>
          <p:cNvSpPr txBox="1"/>
          <p:nvPr/>
        </p:nvSpPr>
        <p:spPr>
          <a:xfrm>
            <a:off x="5821527" y="5440680"/>
            <a:ext cx="548640" cy="164592"/>
          </a:xfrm>
          <a:prstGeom prst="rect">
            <a:avLst/>
          </a:prstGeom>
          <a:noFill/>
        </p:spPr>
        <p:txBody>
          <a:bodyPr wrap="none">
            <a:spAutoFit/>
          </a:bodyPr>
          <a:lstStyle/>
          <a:p>
            <a:pPr algn="ctr">
              <a:defRPr sz="1600" b="1">
                <a:solidFill>
                  <a:srgbClr val="1F3A5F"/>
                </a:solidFill>
              </a:defRPr>
            </a:pPr>
            <a:r>
              <a:t>↓</a:t>
            </a:r>
          </a:p>
        </p:txBody>
      </p:sp>
      <p:sp>
        <p:nvSpPr>
          <p:cNvPr id="16" name="Rectangle 15"/>
          <p:cNvSpPr/>
          <p:nvPr/>
        </p:nvSpPr>
        <p:spPr>
          <a:xfrm>
            <a:off x="838047" y="5623560"/>
            <a:ext cx="10515600"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7.  Ticket is now queryable in Postgres — typically within 2-5 seconds of creation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Step 1 — Setting Up the Database</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Created a brand-new, dedicated database</a:t>
            </a:r>
          </a:p>
          <a:p>
            <a:pPr lvl="1">
              <a:spcAft>
                <a:spcPts val="800"/>
              </a:spcAft>
              <a:defRPr sz="1500" b="0">
                <a:solidFill>
                  <a:srgbClr val="5D6D7E"/>
                </a:solidFill>
              </a:defRPr>
            </a:pPr>
            <a:r>
              <a:t>Database name: servicenow_tickets — kept separate from our existing project database to avoid any risk to current systems</a:t>
            </a:r>
          </a:p>
          <a:p>
            <a:pPr>
              <a:spcAft>
                <a:spcPts val="800"/>
              </a:spcAft>
              <a:defRPr sz="1800" b="1">
                <a:solidFill>
                  <a:srgbClr val="1F3A5F"/>
                </a:solidFill>
              </a:defRPr>
            </a:pPr>
          </a:p>
          <a:p>
            <a:pPr>
              <a:spcAft>
                <a:spcPts val="800"/>
              </a:spcAft>
              <a:defRPr sz="1800" b="1">
                <a:solidFill>
                  <a:srgbClr val="1F3A5F"/>
                </a:solidFill>
              </a:defRPr>
            </a:pPr>
            <a:r>
              <a:t>Designed a table that mirrors ServiceNow's ticket fields</a:t>
            </a:r>
          </a:p>
          <a:p>
            <a:pPr lvl="1">
              <a:spcAft>
                <a:spcPts val="800"/>
              </a:spcAft>
              <a:defRPr sz="1500" b="0">
                <a:solidFill>
                  <a:srgbClr val="5D6D7E"/>
                </a:solidFill>
              </a:defRPr>
            </a:pPr>
            <a:r>
              <a:t>Key fields: sys_id (ServiceNow's unique ID), number (e.g. INC0010634), short_description, state, priority, assignment, timestamps</a:t>
            </a:r>
          </a:p>
          <a:p>
            <a:pPr lvl="1">
              <a:spcAft>
                <a:spcPts val="800"/>
              </a:spcAft>
              <a:defRPr sz="1500" b="0">
                <a:solidFill>
                  <a:srgbClr val="5D6D7E"/>
                </a:solidFill>
              </a:defRPr>
            </a:pPr>
            <a:r>
              <a:t>A 'raw' JSON column stores the COMPLETE original ServiceNow record — nothing is ever lost, even fields we didn't explicitly map</a:t>
            </a:r>
          </a:p>
          <a:p>
            <a:pPr>
              <a:spcAft>
                <a:spcPts val="800"/>
              </a:spcAft>
              <a:defRPr sz="1800" b="1">
                <a:solidFill>
                  <a:srgbClr val="1F3A5F"/>
                </a:solidFill>
              </a:defRPr>
            </a:pPr>
          </a:p>
          <a:p>
            <a:pPr>
              <a:spcAft>
                <a:spcPts val="800"/>
              </a:spcAft>
              <a:defRPr sz="1800" b="1">
                <a:solidFill>
                  <a:srgbClr val="1F3A5F"/>
                </a:solidFill>
              </a:defRPr>
            </a:pPr>
            <a:r>
              <a:t>The critical design decision: sys_id is UNIQUE</a:t>
            </a:r>
          </a:p>
          <a:p>
            <a:pPr lvl="1">
              <a:spcAft>
                <a:spcPts val="800"/>
              </a:spcAft>
              <a:defRPr sz="1500" b="0">
                <a:solidFill>
                  <a:srgbClr val="5D6D7E"/>
                </a:solidFill>
              </a:defRPr>
            </a:pPr>
            <a:r>
              <a:t>This is what allows safe 'upserts' — insert if new, update if it already exists — so re-running any sync NEVER creates duplicates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Step 2 — Importing All Existing Tickets (Backfill)</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Wrote a script that:</a:t>
            </a:r>
          </a:p>
          <a:p>
            <a:pPr lvl="1">
              <a:spcAft>
                <a:spcPts val="800"/>
              </a:spcAft>
              <a:defRPr sz="1500" b="0">
                <a:solidFill>
                  <a:srgbClr val="5D6D7E"/>
                </a:solidFill>
              </a:defRPr>
            </a:pPr>
            <a:r>
              <a:t>Calls ServiceNow's REST API (the 'Table API') to fetch ticket records</a:t>
            </a:r>
          </a:p>
          <a:p>
            <a:pPr lvl="1">
              <a:spcAft>
                <a:spcPts val="800"/>
              </a:spcAft>
              <a:defRPr sz="1500" b="0">
                <a:solidFill>
                  <a:srgbClr val="5D6D7E"/>
                </a:solidFill>
              </a:defRPr>
            </a:pPr>
            <a:r>
              <a:t>Pages through results 100 at a time (ServiceNow returns data in batches)</a:t>
            </a:r>
          </a:p>
          <a:p>
            <a:pPr lvl="1">
              <a:spcAft>
                <a:spcPts val="800"/>
              </a:spcAft>
              <a:defRPr sz="1500" b="0">
                <a:solidFill>
                  <a:srgbClr val="5D6D7E"/>
                </a:solidFill>
              </a:defRPr>
            </a:pPr>
            <a:r>
              <a:t>Upserts every record into our new Postgres table</a:t>
            </a:r>
          </a:p>
          <a:p>
            <a:pPr>
              <a:spcAft>
                <a:spcPts val="800"/>
              </a:spcAft>
              <a:defRPr sz="1800" b="1">
                <a:solidFill>
                  <a:srgbClr val="1F3A5F"/>
                </a:solidFill>
              </a:defRPr>
            </a:pPr>
          </a:p>
          <a:p>
            <a:pPr>
              <a:spcAft>
                <a:spcPts val="800"/>
              </a:spcAft>
              <a:defRPr sz="1800" b="1">
                <a:solidFill>
                  <a:srgbClr val="1F3A5F"/>
                </a:solidFill>
              </a:defRPr>
            </a:pPr>
            <a:r>
              <a:t>Result: ALL 699 existing tickets imported successfully</a:t>
            </a:r>
          </a:p>
          <a:p>
            <a:pPr lvl="1">
              <a:spcAft>
                <a:spcPts val="800"/>
              </a:spcAft>
              <a:defRPr sz="1500" b="0">
                <a:solidFill>
                  <a:srgbClr val="5D6D7E"/>
                </a:solidFill>
              </a:defRPr>
            </a:pPr>
            <a:r>
              <a:t>Verified directly with a SQL count query — confirmed 699 rows</a:t>
            </a:r>
          </a:p>
          <a:p>
            <a:pPr>
              <a:spcAft>
                <a:spcPts val="800"/>
              </a:spcAft>
              <a:defRPr sz="1800" b="1">
                <a:solidFill>
                  <a:srgbClr val="1F3A5F"/>
                </a:solidFill>
              </a:defRPr>
            </a:pPr>
          </a:p>
          <a:p>
            <a:pPr>
              <a:spcAft>
                <a:spcPts val="800"/>
              </a:spcAft>
              <a:defRPr sz="1800" b="1">
                <a:solidFill>
                  <a:srgbClr val="1F3A5F"/>
                </a:solidFill>
              </a:defRPr>
            </a:pPr>
            <a:r>
              <a:t>This script can be re-run anytime as a safety net</a:t>
            </a:r>
          </a:p>
          <a:p>
            <a:pPr lvl="1">
              <a:spcAft>
                <a:spcPts val="800"/>
              </a:spcAft>
              <a:defRPr sz="1500" b="0">
                <a:solidFill>
                  <a:srgbClr val="5D6D7E"/>
                </a:solidFill>
              </a:defRPr>
            </a:pPr>
            <a:r>
              <a:t>e.g., to 'catch up' on anything that may have been missed by the live sync</a:t>
            </a:r>
          </a:p>
          <a:p>
            <a:pPr lvl="1">
              <a:spcAft>
                <a:spcPts val="800"/>
              </a:spcAft>
              <a:defRPr sz="1500" b="0">
                <a:solidFill>
                  <a:srgbClr val="5D6D7E"/>
                </a:solidFill>
              </a:defRPr>
            </a:pPr>
            <a:r>
              <a:t>100% safe to repeat — guaranteed no duplicates, thanks to the upsert design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Step 3 — Real-Time Sync, Part 1: The Webhook Receiver</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Built a small web service that listens for 'a ticket changed' notifications</a:t>
            </a:r>
          </a:p>
          <a:p>
            <a:pPr lvl="1">
              <a:spcAft>
                <a:spcPts val="800"/>
              </a:spcAft>
              <a:defRPr sz="1500" b="0">
                <a:solidFill>
                  <a:srgbClr val="5D6D7E"/>
                </a:solidFill>
              </a:defRPr>
            </a:pPr>
            <a:r>
              <a:t>Runs locally, listens on a dedicated port (8800)</a:t>
            </a:r>
          </a:p>
          <a:p>
            <a:pPr>
              <a:spcAft>
                <a:spcPts val="800"/>
              </a:spcAft>
              <a:defRPr sz="1800" b="1">
                <a:solidFill>
                  <a:srgbClr val="1F3A5F"/>
                </a:solidFill>
              </a:defRPr>
            </a:pPr>
          </a:p>
          <a:p>
            <a:pPr>
              <a:spcAft>
                <a:spcPts val="800"/>
              </a:spcAft>
              <a:defRPr sz="1800" b="1">
                <a:solidFill>
                  <a:srgbClr val="1F3A5F"/>
                </a:solidFill>
              </a:defRPr>
            </a:pPr>
            <a:r>
              <a:t>When notified, it:</a:t>
            </a:r>
          </a:p>
          <a:p>
            <a:pPr lvl="1">
              <a:spcAft>
                <a:spcPts val="800"/>
              </a:spcAft>
              <a:defRPr sz="1500" b="0">
                <a:solidFill>
                  <a:srgbClr val="5D6D7E"/>
                </a:solidFill>
              </a:defRPr>
            </a:pPr>
            <a:r>
              <a:t>1. Validates a secret key in the request — blocks anyone who isn't ServiceNow from injecting fake data</a:t>
            </a:r>
          </a:p>
          <a:p>
            <a:pPr lvl="1">
              <a:spcAft>
                <a:spcPts val="800"/>
              </a:spcAft>
              <a:defRPr sz="1500" b="0">
                <a:solidFill>
                  <a:srgbClr val="5D6D7E"/>
                </a:solidFill>
              </a:defRPr>
            </a:pPr>
            <a:r>
              <a:t>2. Re-fetches the FULL, current, authoritative copy of that ticket directly from ServiceNow</a:t>
            </a:r>
          </a:p>
          <a:p>
            <a:pPr lvl="1">
              <a:spcAft>
                <a:spcPts val="800"/>
              </a:spcAft>
              <a:defRPr sz="1500" b="0">
                <a:solidFill>
                  <a:srgbClr val="5D6D7E"/>
                </a:solidFill>
              </a:defRPr>
            </a:pPr>
            <a:r>
              <a:t>3. Upserts it into the Postgres table</a:t>
            </a:r>
          </a:p>
          <a:p>
            <a:pPr>
              <a:spcAft>
                <a:spcPts val="800"/>
              </a:spcAft>
              <a:defRPr sz="1800" b="1">
                <a:solidFill>
                  <a:srgbClr val="1F3A5F"/>
                </a:solidFill>
              </a:defRPr>
            </a:pPr>
          </a:p>
          <a:p>
            <a:pPr>
              <a:spcAft>
                <a:spcPts val="800"/>
              </a:spcAft>
              <a:defRPr sz="1800" b="1">
                <a:solidFill>
                  <a:srgbClr val="1F3A5F"/>
                </a:solidFill>
              </a:defRPr>
            </a:pPr>
            <a:r>
              <a:t>Why re-fetch instead of trusting the notification's data?</a:t>
            </a:r>
          </a:p>
          <a:p>
            <a:pPr lvl="1">
              <a:spcAft>
                <a:spcPts val="800"/>
              </a:spcAft>
              <a:defRPr sz="1500" b="0">
                <a:solidFill>
                  <a:srgbClr val="5D6D7E"/>
                </a:solidFill>
              </a:defRPr>
            </a:pPr>
            <a:r>
              <a:t>Security &amp; correctness best practice — never blindly trust data from an external system; always verify against the source of truth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Step 3 — Real-Time Sync, Part 2: Exposing It Securely (Tunnel)</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The challenge:</a:t>
            </a:r>
          </a:p>
          <a:p>
            <a:pPr lvl="1">
              <a:spcAft>
                <a:spcPts val="800"/>
              </a:spcAft>
              <a:defRPr sz="1500" b="0">
                <a:solidFill>
                  <a:srgbClr val="5D6D7E"/>
                </a:solidFill>
              </a:defRPr>
            </a:pPr>
            <a:r>
              <a:t>ServiceNow is a cloud service on the public internet</a:t>
            </a:r>
          </a:p>
          <a:p>
            <a:pPr lvl="1">
              <a:spcAft>
                <a:spcPts val="800"/>
              </a:spcAft>
              <a:defRPr sz="1500" b="0">
                <a:solidFill>
                  <a:srgbClr val="5D6D7E"/>
                </a:solidFill>
              </a:defRPr>
            </a:pPr>
            <a:r>
              <a:t>Our webhook receiver runs on a local machine (localhost) — the internet cannot reach it directly (this is a GOOD security default)</a:t>
            </a:r>
          </a:p>
          <a:p>
            <a:pPr lvl="1">
              <a:spcAft>
                <a:spcPts val="800"/>
              </a:spcAft>
              <a:defRPr sz="1500" b="0">
                <a:solidFill>
                  <a:srgbClr val="5D6D7E"/>
                </a:solidFill>
              </a:defRPr>
            </a:pPr>
            <a:r>
              <a:t>So... how does ServiceNow 'call' a program running on a local machine?</a:t>
            </a:r>
          </a:p>
          <a:p>
            <a:pPr>
              <a:spcAft>
                <a:spcPts val="800"/>
              </a:spcAft>
              <a:defRPr sz="1800" b="1">
                <a:solidFill>
                  <a:srgbClr val="1F3A5F"/>
                </a:solidFill>
              </a:defRPr>
            </a:pPr>
          </a:p>
          <a:p>
            <a:pPr>
              <a:spcAft>
                <a:spcPts val="800"/>
              </a:spcAft>
              <a:defRPr sz="1800" b="1">
                <a:solidFill>
                  <a:srgbClr val="1F3A5F"/>
                </a:solidFill>
              </a:defRPr>
            </a:pPr>
            <a:r>
              <a:t>The solution: Cloudflare Tunnel</a:t>
            </a:r>
          </a:p>
          <a:p>
            <a:pPr lvl="1">
              <a:spcAft>
                <a:spcPts val="800"/>
              </a:spcAft>
              <a:defRPr sz="1500" b="0">
                <a:solidFill>
                  <a:srgbClr val="5D6D7E"/>
                </a:solidFill>
              </a:defRPr>
            </a:pPr>
            <a:r>
              <a:t>A secure tunnel tool that creates a temporary public web address (e.g. https://xxxx.trycloudflare.com)</a:t>
            </a:r>
          </a:p>
          <a:p>
            <a:pPr lvl="1">
              <a:spcAft>
                <a:spcPts val="800"/>
              </a:spcAft>
              <a:defRPr sz="1500" b="0">
                <a:solidFill>
                  <a:srgbClr val="5D6D7E"/>
                </a:solidFill>
              </a:defRPr>
            </a:pPr>
            <a:r>
              <a:t>Anything sent to that public address is securely forwarded straight through to our local webhook receiver</a:t>
            </a:r>
          </a:p>
          <a:p>
            <a:pPr lvl="1">
              <a:spcAft>
                <a:spcPts val="800"/>
              </a:spcAft>
              <a:defRPr sz="1500" b="0">
                <a:solidFill>
                  <a:srgbClr val="5D6D7E"/>
                </a:solidFill>
              </a:defRPr>
            </a:pPr>
            <a:r>
              <a:t>No firewall changes, no exposing the machine directly to the internet — the tunnel software handles all of that securely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Step 3 — Real-Time Sync, Part 3: The ServiceNow Business Rule</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Created a 'Business Rule' inside ServiceNow itself</a:t>
            </a:r>
          </a:p>
          <a:p>
            <a:pPr lvl="1">
              <a:spcAft>
                <a:spcPts val="800"/>
              </a:spcAft>
              <a:defRPr sz="1500" b="0">
                <a:solidFill>
                  <a:srgbClr val="5D6D7E"/>
                </a:solidFill>
              </a:defRPr>
            </a:pPr>
            <a:r>
              <a:t>Name: 'Sync incident to Postgres' — configured directly via ServiceNow's API</a:t>
            </a:r>
          </a:p>
          <a:p>
            <a:pPr lvl="1">
              <a:spcAft>
                <a:spcPts val="800"/>
              </a:spcAft>
              <a:defRPr sz="1500" b="0">
                <a:solidFill>
                  <a:srgbClr val="5D6D7E"/>
                </a:solidFill>
              </a:defRPr>
            </a:pPr>
            <a:r>
              <a:t>Trigger: fires automatically AFTER a ticket is inserted OR updated in the 'incident' table</a:t>
            </a:r>
          </a:p>
          <a:p>
            <a:pPr lvl="1">
              <a:spcAft>
                <a:spcPts val="800"/>
              </a:spcAft>
              <a:defRPr sz="1500" b="0">
                <a:solidFill>
                  <a:srgbClr val="5D6D7E"/>
                </a:solidFill>
              </a:defRPr>
            </a:pPr>
            <a:r>
              <a:t>Action: sends an outbound web request (POST) to our tunnel's public address, containing just the ticket's ID and number</a:t>
            </a:r>
          </a:p>
          <a:p>
            <a:pPr>
              <a:spcAft>
                <a:spcPts val="800"/>
              </a:spcAft>
              <a:defRPr sz="1800" b="1">
                <a:solidFill>
                  <a:srgbClr val="1F3A5F"/>
                </a:solidFill>
              </a:defRPr>
            </a:pPr>
          </a:p>
          <a:p>
            <a:pPr>
              <a:spcAft>
                <a:spcPts val="800"/>
              </a:spcAft>
              <a:defRPr sz="1800" b="1">
                <a:solidFill>
                  <a:srgbClr val="1F3A5F"/>
                </a:solidFill>
              </a:defRPr>
            </a:pPr>
            <a:r>
              <a:t>This is the 'trigger' that kicks off the entire automated chain</a:t>
            </a:r>
          </a:p>
          <a:p>
            <a:pPr lvl="1">
              <a:spcAft>
                <a:spcPts val="800"/>
              </a:spcAft>
              <a:defRPr sz="1500" b="0">
                <a:solidFill>
                  <a:srgbClr val="5D6D7E"/>
                </a:solidFill>
              </a:defRPr>
            </a:pPr>
            <a:r>
              <a:t>No ServiceNow user ever needs to do anything differently — tickets are created exactly the way they always have been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Putting It All Together — What Happens When You Create a Ticket</a:t>
            </a:r>
          </a:p>
        </p:txBody>
      </p:sp>
      <p:sp>
        <p:nvSpPr>
          <p:cNvPr id="4" name="Rectangle 3"/>
          <p:cNvSpPr/>
          <p:nvPr/>
        </p:nvSpPr>
        <p:spPr>
          <a:xfrm>
            <a:off x="838047" y="1234440"/>
            <a:ext cx="10515600"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1.  You create a ticket in ServiceNow (completely normal workflow, nothing changes for you)</a:t>
            </a:r>
          </a:p>
        </p:txBody>
      </p:sp>
      <p:sp>
        <p:nvSpPr>
          <p:cNvPr id="5" name="TextBox 4"/>
          <p:cNvSpPr txBox="1"/>
          <p:nvPr/>
        </p:nvSpPr>
        <p:spPr>
          <a:xfrm>
            <a:off x="5821527" y="1783080"/>
            <a:ext cx="548640" cy="164592"/>
          </a:xfrm>
          <a:prstGeom prst="rect">
            <a:avLst/>
          </a:prstGeom>
          <a:noFill/>
        </p:spPr>
        <p:txBody>
          <a:bodyPr wrap="none">
            <a:spAutoFit/>
          </a:bodyPr>
          <a:lstStyle/>
          <a:p>
            <a:pPr algn="ctr">
              <a:defRPr sz="1600" b="1">
                <a:solidFill>
                  <a:srgbClr val="1F3A5F"/>
                </a:solidFill>
              </a:defRPr>
            </a:pPr>
            <a:r>
              <a:t>↓</a:t>
            </a:r>
          </a:p>
        </p:txBody>
      </p:sp>
      <p:sp>
        <p:nvSpPr>
          <p:cNvPr id="6" name="Rectangle 5"/>
          <p:cNvSpPr/>
          <p:nvPr/>
        </p:nvSpPr>
        <p:spPr>
          <a:xfrm>
            <a:off x="838047" y="1965960"/>
            <a:ext cx="10515600"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2.  ServiceNow saves it, then the Business Rule fires automatically in the background</a:t>
            </a:r>
          </a:p>
        </p:txBody>
      </p:sp>
      <p:sp>
        <p:nvSpPr>
          <p:cNvPr id="7" name="TextBox 6"/>
          <p:cNvSpPr txBox="1"/>
          <p:nvPr/>
        </p:nvSpPr>
        <p:spPr>
          <a:xfrm>
            <a:off x="5821527" y="2514600"/>
            <a:ext cx="548640" cy="164592"/>
          </a:xfrm>
          <a:prstGeom prst="rect">
            <a:avLst/>
          </a:prstGeom>
          <a:noFill/>
        </p:spPr>
        <p:txBody>
          <a:bodyPr wrap="none">
            <a:spAutoFit/>
          </a:bodyPr>
          <a:lstStyle/>
          <a:p>
            <a:pPr algn="ctr">
              <a:defRPr sz="1600" b="1">
                <a:solidFill>
                  <a:srgbClr val="1F3A5F"/>
                </a:solidFill>
              </a:defRPr>
            </a:pPr>
            <a:r>
              <a:t>↓</a:t>
            </a:r>
          </a:p>
        </p:txBody>
      </p:sp>
      <p:sp>
        <p:nvSpPr>
          <p:cNvPr id="8" name="Rectangle 7"/>
          <p:cNvSpPr/>
          <p:nvPr/>
        </p:nvSpPr>
        <p:spPr>
          <a:xfrm>
            <a:off x="838047" y="2697480"/>
            <a:ext cx="10515600"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3.  Business Rule notifies our tunnel's public address — 'ticket X just changed'</a:t>
            </a:r>
          </a:p>
        </p:txBody>
      </p:sp>
      <p:sp>
        <p:nvSpPr>
          <p:cNvPr id="9" name="TextBox 8"/>
          <p:cNvSpPr txBox="1"/>
          <p:nvPr/>
        </p:nvSpPr>
        <p:spPr>
          <a:xfrm>
            <a:off x="5821527" y="3246120"/>
            <a:ext cx="548640" cy="164592"/>
          </a:xfrm>
          <a:prstGeom prst="rect">
            <a:avLst/>
          </a:prstGeom>
          <a:noFill/>
        </p:spPr>
        <p:txBody>
          <a:bodyPr wrap="none">
            <a:spAutoFit/>
          </a:bodyPr>
          <a:lstStyle/>
          <a:p>
            <a:pPr algn="ctr">
              <a:defRPr sz="1600" b="1">
                <a:solidFill>
                  <a:srgbClr val="1F3A5F"/>
                </a:solidFill>
              </a:defRPr>
            </a:pPr>
            <a:r>
              <a:t>↓</a:t>
            </a:r>
          </a:p>
        </p:txBody>
      </p:sp>
      <p:sp>
        <p:nvSpPr>
          <p:cNvPr id="10" name="Rectangle 9"/>
          <p:cNvSpPr/>
          <p:nvPr/>
        </p:nvSpPr>
        <p:spPr>
          <a:xfrm>
            <a:off x="838047" y="3429000"/>
            <a:ext cx="10515600"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4.  Tunnel securely forwards that notification to our webhook receiver</a:t>
            </a:r>
          </a:p>
        </p:txBody>
      </p:sp>
      <p:sp>
        <p:nvSpPr>
          <p:cNvPr id="11" name="TextBox 10"/>
          <p:cNvSpPr txBox="1"/>
          <p:nvPr/>
        </p:nvSpPr>
        <p:spPr>
          <a:xfrm>
            <a:off x="5821527" y="3977640"/>
            <a:ext cx="548640" cy="164592"/>
          </a:xfrm>
          <a:prstGeom prst="rect">
            <a:avLst/>
          </a:prstGeom>
          <a:noFill/>
        </p:spPr>
        <p:txBody>
          <a:bodyPr wrap="none">
            <a:spAutoFit/>
          </a:bodyPr>
          <a:lstStyle/>
          <a:p>
            <a:pPr algn="ctr">
              <a:defRPr sz="1600" b="1">
                <a:solidFill>
                  <a:srgbClr val="1F3A5F"/>
                </a:solidFill>
              </a:defRPr>
            </a:pPr>
            <a:r>
              <a:t>↓</a:t>
            </a:r>
          </a:p>
        </p:txBody>
      </p:sp>
      <p:sp>
        <p:nvSpPr>
          <p:cNvPr id="12" name="Rectangle 11"/>
          <p:cNvSpPr/>
          <p:nvPr/>
        </p:nvSpPr>
        <p:spPr>
          <a:xfrm>
            <a:off x="838047" y="4160520"/>
            <a:ext cx="10515600"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5.  Webhook receiver re-fetches the full, authoritative ticket from ServiceNow</a:t>
            </a:r>
          </a:p>
        </p:txBody>
      </p:sp>
      <p:sp>
        <p:nvSpPr>
          <p:cNvPr id="13" name="TextBox 12"/>
          <p:cNvSpPr txBox="1"/>
          <p:nvPr/>
        </p:nvSpPr>
        <p:spPr>
          <a:xfrm>
            <a:off x="5821527" y="4709160"/>
            <a:ext cx="548640" cy="164592"/>
          </a:xfrm>
          <a:prstGeom prst="rect">
            <a:avLst/>
          </a:prstGeom>
          <a:noFill/>
        </p:spPr>
        <p:txBody>
          <a:bodyPr wrap="none">
            <a:spAutoFit/>
          </a:bodyPr>
          <a:lstStyle/>
          <a:p>
            <a:pPr algn="ctr">
              <a:defRPr sz="1600" b="1">
                <a:solidFill>
                  <a:srgbClr val="1F3A5F"/>
                </a:solidFill>
              </a:defRPr>
            </a:pPr>
            <a:r>
              <a:t>↓</a:t>
            </a:r>
          </a:p>
        </p:txBody>
      </p:sp>
      <p:sp>
        <p:nvSpPr>
          <p:cNvPr id="14" name="Rectangle 13"/>
          <p:cNvSpPr/>
          <p:nvPr/>
        </p:nvSpPr>
        <p:spPr>
          <a:xfrm>
            <a:off x="838047" y="4892040"/>
            <a:ext cx="10515600"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6.  Webhook upserts the ticket into the PostgreSQL 'servicenow_tickets' table</a:t>
            </a:r>
          </a:p>
        </p:txBody>
      </p:sp>
      <p:sp>
        <p:nvSpPr>
          <p:cNvPr id="15" name="TextBox 14"/>
          <p:cNvSpPr txBox="1"/>
          <p:nvPr/>
        </p:nvSpPr>
        <p:spPr>
          <a:xfrm>
            <a:off x="5821527" y="5440680"/>
            <a:ext cx="548640" cy="164592"/>
          </a:xfrm>
          <a:prstGeom prst="rect">
            <a:avLst/>
          </a:prstGeom>
          <a:noFill/>
        </p:spPr>
        <p:txBody>
          <a:bodyPr wrap="none">
            <a:spAutoFit/>
          </a:bodyPr>
          <a:lstStyle/>
          <a:p>
            <a:pPr algn="ctr">
              <a:defRPr sz="1600" b="1">
                <a:solidFill>
                  <a:srgbClr val="1F3A5F"/>
                </a:solidFill>
              </a:defRPr>
            </a:pPr>
            <a:r>
              <a:t>↓</a:t>
            </a:r>
          </a:p>
        </p:txBody>
      </p:sp>
      <p:sp>
        <p:nvSpPr>
          <p:cNvPr id="16" name="Rectangle 15"/>
          <p:cNvSpPr/>
          <p:nvPr/>
        </p:nvSpPr>
        <p:spPr>
          <a:xfrm>
            <a:off x="838047" y="5623560"/>
            <a:ext cx="10515600"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500" b="1">
                <a:solidFill>
                  <a:srgbClr val="FFFFFF"/>
                </a:solidFill>
              </a:defRPr>
            </a:pPr>
            <a:r>
              <a:t>7.  Ticket is now live in Postgres — verified end-to-end at ~2-5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Step 4 — Making It Durable: Background Services</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Problem: running this from a terminal means closing the terminal stops everything</a:t>
            </a:r>
          </a:p>
          <a:p>
            <a:pPr>
              <a:spcAft>
                <a:spcPts val="800"/>
              </a:spcAft>
              <a:defRPr sz="1800" b="1">
                <a:solidFill>
                  <a:srgbClr val="1F3A5F"/>
                </a:solidFill>
              </a:defRPr>
            </a:pPr>
          </a:p>
          <a:p>
            <a:pPr>
              <a:spcAft>
                <a:spcPts val="800"/>
              </a:spcAft>
              <a:defRPr sz="1800" b="1">
                <a:solidFill>
                  <a:srgbClr val="1F3A5F"/>
                </a:solidFill>
              </a:defRPr>
            </a:pPr>
            <a:r>
              <a:t>Solution: registered both pieces as macOS background services (launchd)</a:t>
            </a:r>
          </a:p>
          <a:p>
            <a:pPr lvl="1">
              <a:spcAft>
                <a:spcPts val="800"/>
              </a:spcAft>
              <a:defRPr sz="1500" b="0">
                <a:solidFill>
                  <a:srgbClr val="5D6D7E"/>
                </a:solidFill>
              </a:defRPr>
            </a:pPr>
            <a:r>
              <a:t>Same mechanism the operating system itself uses to run its own core services</a:t>
            </a:r>
          </a:p>
          <a:p>
            <a:pPr lvl="1">
              <a:spcAft>
                <a:spcPts val="800"/>
              </a:spcAft>
              <a:defRPr sz="1500" b="0">
                <a:solidFill>
                  <a:srgbClr val="5D6D7E"/>
                </a:solidFill>
              </a:defRPr>
            </a:pPr>
            <a:r>
              <a:t>Configured to start automatically on login (RunAtLoad)</a:t>
            </a:r>
          </a:p>
          <a:p>
            <a:pPr lvl="1">
              <a:spcAft>
                <a:spcPts val="800"/>
              </a:spcAft>
              <a:defRPr sz="1500" b="0">
                <a:solidFill>
                  <a:srgbClr val="5D6D7E"/>
                </a:solidFill>
              </a:defRPr>
            </a:pPr>
            <a:r>
              <a:t>Configured to automatically restart themselves if they ever crash (KeepAlive)</a:t>
            </a:r>
          </a:p>
          <a:p>
            <a:pPr>
              <a:spcAft>
                <a:spcPts val="800"/>
              </a:spcAft>
              <a:defRPr sz="1800" b="1">
                <a:solidFill>
                  <a:srgbClr val="1F3A5F"/>
                </a:solidFill>
              </a:defRPr>
            </a:pPr>
          </a:p>
          <a:p>
            <a:pPr>
              <a:spcAft>
                <a:spcPts val="800"/>
              </a:spcAft>
              <a:defRPr sz="1800" b="1">
                <a:solidFill>
                  <a:srgbClr val="1F3A5F"/>
                </a:solidFill>
              </a:defRPr>
            </a:pPr>
            <a:r>
              <a:t>Net result:</a:t>
            </a:r>
          </a:p>
          <a:p>
            <a:pPr lvl="1">
              <a:spcAft>
                <a:spcPts val="800"/>
              </a:spcAft>
              <a:defRPr sz="1500" b="0">
                <a:solidFill>
                  <a:srgbClr val="5D6D7E"/>
                </a:solidFill>
              </a:defRPr>
            </a:pPr>
            <a:r>
              <a:t>The sync 'just runs' in the background, indefinitely, without anyone needing to remember to start it</a:t>
            </a:r>
          </a:p>
          <a:p>
            <a:pPr lvl="1">
              <a:spcAft>
                <a:spcPts val="800"/>
              </a:spcAft>
              <a:defRPr sz="1500" b="0">
                <a:solidFill>
                  <a:srgbClr val="5D6D7E"/>
                </a:solidFill>
              </a:defRPr>
            </a:pPr>
            <a:r>
              <a:t>Survives reboots, sleep/wake cycles, and unexpected crashes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The Tricky Bit — Solved: Self-Healing Tunnel Addresses</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A subtle problem I discovered:</a:t>
            </a:r>
          </a:p>
          <a:p>
            <a:pPr lvl="1">
              <a:spcAft>
                <a:spcPts val="800"/>
              </a:spcAft>
              <a:defRPr sz="1500" b="0">
                <a:solidFill>
                  <a:srgbClr val="5D6D7E"/>
                </a:solidFill>
              </a:defRPr>
            </a:pPr>
            <a:r>
              <a:t>The free tunnel service generates a brand-new random public address every time it restarts</a:t>
            </a:r>
          </a:p>
          <a:p>
            <a:pPr lvl="1">
              <a:spcAft>
                <a:spcPts val="800"/>
              </a:spcAft>
              <a:defRPr sz="1500" b="0">
                <a:solidFill>
                  <a:srgbClr val="5D6D7E"/>
                </a:solidFill>
              </a:defRPr>
            </a:pPr>
            <a:r>
              <a:t>If the address changes but ServiceNow still points at the old one — the sync silently breaks</a:t>
            </a:r>
          </a:p>
          <a:p>
            <a:pPr>
              <a:spcAft>
                <a:spcPts val="800"/>
              </a:spcAft>
              <a:defRPr sz="1800" b="1">
                <a:solidFill>
                  <a:srgbClr val="1F3A5F"/>
                </a:solidFill>
              </a:defRPr>
            </a:pPr>
          </a:p>
          <a:p>
            <a:pPr>
              <a:spcAft>
                <a:spcPts val="800"/>
              </a:spcAft>
              <a:defRPr sz="1800" b="1">
                <a:solidFill>
                  <a:srgbClr val="1F3A5F"/>
                </a:solidFill>
              </a:defRPr>
            </a:pPr>
            <a:r>
              <a:t>My solution — an automated 'watcher' I built:</a:t>
            </a:r>
          </a:p>
          <a:p>
            <a:pPr lvl="1">
              <a:spcAft>
                <a:spcPts val="800"/>
              </a:spcAft>
              <a:defRPr sz="1500" b="0">
                <a:solidFill>
                  <a:srgbClr val="5D6D7E"/>
                </a:solidFill>
              </a:defRPr>
            </a:pPr>
            <a:r>
              <a:t>Continuously watches for the tunnel's address to change</a:t>
            </a:r>
          </a:p>
          <a:p>
            <a:pPr lvl="1">
              <a:spcAft>
                <a:spcPts val="800"/>
              </a:spcAft>
              <a:defRPr sz="1500" b="0">
                <a:solidFill>
                  <a:srgbClr val="5D6D7E"/>
                </a:solidFill>
              </a:defRPr>
            </a:pPr>
            <a:r>
              <a:t>The instant it changes, automatically calls ServiceNow's API and rewrites the Business Rule to point at the NEW address</a:t>
            </a:r>
          </a:p>
          <a:p>
            <a:pPr lvl="1">
              <a:spcAft>
                <a:spcPts val="800"/>
              </a:spcAft>
              <a:defRPr sz="1500" b="0">
                <a:solidFill>
                  <a:srgbClr val="5D6D7E"/>
                </a:solidFill>
              </a:defRPr>
            </a:pPr>
            <a:r>
              <a:t>Zero human involvement — fully self-correcting</a:t>
            </a:r>
          </a:p>
          <a:p>
            <a:pPr>
              <a:spcAft>
                <a:spcPts val="800"/>
              </a:spcAft>
              <a:defRPr sz="1800" b="1">
                <a:solidFill>
                  <a:srgbClr val="1F3A5F"/>
                </a:solidFill>
              </a:defRPr>
            </a:pPr>
          </a:p>
          <a:p>
            <a:pPr>
              <a:spcAft>
                <a:spcPts val="800"/>
              </a:spcAft>
              <a:defRPr sz="1800" b="1">
                <a:solidFill>
                  <a:srgbClr val="1F3A5F"/>
                </a:solidFill>
              </a:defRPr>
            </a:pPr>
            <a:r>
              <a:t>Proven live: address changed mid-setup, was auto-corrected, and a test ticket flowed through the BRAND NEW address successfully within seconds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Live Proof — This Was Tested End-to-End, Not Just Assumed</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Created REAL test tickets directly in ServiceNow (e.g. INC0010633, INC0010634)</a:t>
            </a:r>
          </a:p>
          <a:p>
            <a:pPr lvl="1">
              <a:spcAft>
                <a:spcPts val="800"/>
              </a:spcAft>
              <a:defRPr sz="1500" b="0">
                <a:solidFill>
                  <a:srgbClr val="5D6D7E"/>
                </a:solidFill>
              </a:defRPr>
            </a:pPr>
            <a:r>
              <a:t>Confirmed both appeared automatically in Postgres within ~5 seconds — with zero manual steps</a:t>
            </a:r>
          </a:p>
          <a:p>
            <a:pPr>
              <a:spcAft>
                <a:spcPts val="800"/>
              </a:spcAft>
              <a:defRPr sz="1800" b="1">
                <a:solidFill>
                  <a:srgbClr val="1F3A5F"/>
                </a:solidFill>
              </a:defRPr>
            </a:pPr>
          </a:p>
          <a:p>
            <a:pPr>
              <a:spcAft>
                <a:spcPts val="800"/>
              </a:spcAft>
              <a:defRPr sz="1800" b="1">
                <a:solidFill>
                  <a:srgbClr val="1F3A5F"/>
                </a:solidFill>
              </a:defRPr>
            </a:pPr>
            <a:r>
              <a:t>Verified the full chain independently at each stage:</a:t>
            </a:r>
          </a:p>
          <a:p>
            <a:pPr lvl="1">
              <a:spcAft>
                <a:spcPts val="800"/>
              </a:spcAft>
              <a:defRPr sz="1500" b="0">
                <a:solidFill>
                  <a:srgbClr val="5D6D7E"/>
                </a:solidFill>
              </a:defRPr>
            </a:pPr>
            <a:r>
              <a:t>✓  ServiceNow API connection — confirmed (pulled live data)</a:t>
            </a:r>
          </a:p>
          <a:p>
            <a:pPr lvl="1">
              <a:spcAft>
                <a:spcPts val="800"/>
              </a:spcAft>
              <a:defRPr sz="1500" b="0">
                <a:solidFill>
                  <a:srgbClr val="5D6D7E"/>
                </a:solidFill>
              </a:defRPr>
            </a:pPr>
            <a:r>
              <a:t>✓  Backfill — confirmed 699 rows landed via direct SQL count</a:t>
            </a:r>
          </a:p>
          <a:p>
            <a:pPr lvl="1">
              <a:spcAft>
                <a:spcPts val="800"/>
              </a:spcAft>
              <a:defRPr sz="1500" b="0">
                <a:solidFill>
                  <a:srgbClr val="5D6D7E"/>
                </a:solidFill>
              </a:defRPr>
            </a:pPr>
            <a:r>
              <a:t>✓  Webhook receiver — confirmed responding &amp; logging upserts</a:t>
            </a:r>
          </a:p>
          <a:p>
            <a:pPr lvl="1">
              <a:spcAft>
                <a:spcPts val="800"/>
              </a:spcAft>
              <a:defRPr sz="1500" b="0">
                <a:solidFill>
                  <a:srgbClr val="5D6D7E"/>
                </a:solidFill>
              </a:defRPr>
            </a:pPr>
            <a:r>
              <a:t>✓  Tunnel — confirmed publicly reachable and forwarding correctly</a:t>
            </a:r>
          </a:p>
          <a:p>
            <a:pPr lvl="1">
              <a:spcAft>
                <a:spcPts val="800"/>
              </a:spcAft>
              <a:defRPr sz="1500" b="0">
                <a:solidFill>
                  <a:srgbClr val="5D6D7E"/>
                </a:solidFill>
              </a:defRPr>
            </a:pPr>
            <a:r>
              <a:t>✓  Business Rule — confirmed created &amp; firing in ServiceNow</a:t>
            </a:r>
          </a:p>
          <a:p>
            <a:pPr lvl="1">
              <a:spcAft>
                <a:spcPts val="800"/>
              </a:spcAft>
              <a:defRPr sz="1500" b="0">
                <a:solidFill>
                  <a:srgbClr val="5D6D7E"/>
                </a:solidFill>
              </a:defRPr>
            </a:pPr>
            <a:r>
              <a:t>✓  Self-healing — confirmed auto-recovery after a tunnel address change, live</a:t>
            </a:r>
          </a:p>
          <a:p>
            <a:pPr lvl="1">
              <a:spcAft>
                <a:spcPts val="800"/>
              </a:spcAft>
              <a:defRPr sz="1500" b="0">
                <a:solidFill>
                  <a:srgbClr val="5D6D7E"/>
                </a:solidFill>
              </a:defRPr>
            </a:pPr>
            <a:r>
              <a:t>✓  Background services — confirmed running &amp; healthy via launchd status checks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Advantages vs. Considerations</a:t>
            </a:r>
          </a:p>
        </p:txBody>
      </p:sp>
      <p:sp>
        <p:nvSpPr>
          <p:cNvPr id="4" name="TextBox 3"/>
          <p:cNvSpPr txBox="1"/>
          <p:nvPr/>
        </p:nvSpPr>
        <p:spPr>
          <a:xfrm>
            <a:off x="640080" y="1280160"/>
            <a:ext cx="5394960" cy="5303520"/>
          </a:xfrm>
          <a:prstGeom prst="rect">
            <a:avLst/>
          </a:prstGeom>
          <a:noFill/>
        </p:spPr>
        <p:txBody>
          <a:bodyPr wrap="square">
            <a:spAutoFit/>
          </a:bodyPr>
          <a:lstStyle/>
          <a:p>
            <a:pPr>
              <a:spcAft>
                <a:spcPts val="800"/>
              </a:spcAft>
              <a:defRPr sz="1800" b="1">
                <a:solidFill>
                  <a:srgbClr val="1F3A5F"/>
                </a:solidFill>
              </a:defRPr>
            </a:pPr>
            <a:r>
              <a:t>✓  ADVANTAGES</a:t>
            </a:r>
          </a:p>
          <a:p>
            <a:pPr lvl="1">
              <a:spcAft>
                <a:spcPts val="800"/>
              </a:spcAft>
              <a:defRPr sz="1500" b="0">
                <a:solidFill>
                  <a:srgbClr val="5D6D7E"/>
                </a:solidFill>
              </a:defRPr>
            </a:pPr>
            <a:r>
              <a:t>Fully automatic — zero manual steps, syncs within seconds</a:t>
            </a:r>
          </a:p>
          <a:p>
            <a:pPr lvl="1">
              <a:spcAft>
                <a:spcPts val="800"/>
              </a:spcAft>
              <a:defRPr sz="1500" b="0">
                <a:solidFill>
                  <a:srgbClr val="5D6D7E"/>
                </a:solidFill>
              </a:defRPr>
            </a:pPr>
            <a:r>
              <a:t>Safe to re-run anytime — guaranteed no duplicates (upsert design)</a:t>
            </a:r>
          </a:p>
          <a:p>
            <a:pPr lvl="1">
              <a:spcAft>
                <a:spcPts val="800"/>
              </a:spcAft>
              <a:defRPr sz="1500" b="0">
                <a:solidFill>
                  <a:srgbClr val="5D6D7E"/>
                </a:solidFill>
              </a:defRPr>
            </a:pPr>
            <a:r>
              <a:t>Self-healing — auto-restarts on crash, auto-corrects tunnel address changes</a:t>
            </a:r>
          </a:p>
          <a:p>
            <a:pPr lvl="1">
              <a:spcAft>
                <a:spcPts val="800"/>
              </a:spcAft>
              <a:defRPr sz="1500" b="0">
                <a:solidFill>
                  <a:srgbClr val="5D6D7E"/>
                </a:solidFill>
              </a:defRPr>
            </a:pPr>
            <a:r>
              <a:t>Survives reboots — registered as proper OS background services</a:t>
            </a:r>
          </a:p>
          <a:p>
            <a:pPr lvl="1">
              <a:spcAft>
                <a:spcPts val="800"/>
              </a:spcAft>
              <a:defRPr sz="1500" b="0">
                <a:solidFill>
                  <a:srgbClr val="5D6D7E"/>
                </a:solidFill>
              </a:defRPr>
            </a:pPr>
            <a:r>
              <a:t>Secure by design — secret-key validation + re-verifies data against ServiceNow itself</a:t>
            </a:r>
          </a:p>
          <a:p>
            <a:pPr lvl="1">
              <a:spcAft>
                <a:spcPts val="800"/>
              </a:spcAft>
              <a:defRPr sz="1500" b="0">
                <a:solidFill>
                  <a:srgbClr val="5D6D7E"/>
                </a:solidFill>
              </a:defRPr>
            </a:pPr>
            <a:r>
              <a:t>Complete audit trail — full original record preserved as JSON, nothing lost</a:t>
            </a:r>
          </a:p>
          <a:p>
            <a:pPr lvl="1">
              <a:spcAft>
                <a:spcPts val="800"/>
              </a:spcAft>
              <a:defRPr sz="1500" b="0">
                <a:solidFill>
                  <a:srgbClr val="5D6D7E"/>
                </a:solidFill>
              </a:defRPr>
            </a:pPr>
            <a:r>
              <a:t>Non-invasive — uses a brand-new, separate database; zero risk to existing systems</a:t>
            </a:r>
          </a:p>
        </p:txBody>
      </p:sp>
      <p:sp>
        <p:nvSpPr>
          <p:cNvPr id="5" name="TextBox 4"/>
          <p:cNvSpPr txBox="1"/>
          <p:nvPr/>
        </p:nvSpPr>
        <p:spPr>
          <a:xfrm>
            <a:off x="6217920" y="1280160"/>
            <a:ext cx="5394960" cy="5303520"/>
          </a:xfrm>
          <a:prstGeom prst="rect">
            <a:avLst/>
          </a:prstGeom>
          <a:noFill/>
        </p:spPr>
        <p:txBody>
          <a:bodyPr wrap="square">
            <a:spAutoFit/>
          </a:bodyPr>
          <a:lstStyle/>
          <a:p>
            <a:pPr>
              <a:spcAft>
                <a:spcPts val="800"/>
              </a:spcAft>
              <a:defRPr sz="1800" b="1">
                <a:solidFill>
                  <a:srgbClr val="1F3A5F"/>
                </a:solidFill>
              </a:defRPr>
            </a:pPr>
            <a:r>
              <a:t>⚠  CONSIDERATIONS</a:t>
            </a:r>
          </a:p>
          <a:p>
            <a:pPr lvl="1">
              <a:spcAft>
                <a:spcPts val="800"/>
              </a:spcAft>
              <a:defRPr sz="1500" b="0">
                <a:solidFill>
                  <a:srgbClr val="5D6D7E"/>
                </a:solidFill>
              </a:defRPr>
            </a:pPr>
            <a:r>
              <a:t>Currently depends on a laptop being powered on &amp; connected to sync live</a:t>
            </a:r>
          </a:p>
          <a:p>
            <a:pPr lvl="1">
              <a:spcAft>
                <a:spcPts val="800"/>
              </a:spcAft>
              <a:defRPr sz="1500" b="0">
                <a:solidFill>
                  <a:srgbClr val="5D6D7E"/>
                </a:solidFill>
              </a:defRPr>
            </a:pPr>
            <a:r>
              <a:t>Uses a free tunnel service — fine for now, but not an enterprise uptime guarantee</a:t>
            </a:r>
          </a:p>
          <a:p>
            <a:pPr lvl="1">
              <a:spcAft>
                <a:spcPts val="800"/>
              </a:spcAft>
              <a:defRPr sz="1500" b="0">
                <a:solidFill>
                  <a:srgbClr val="5D6D7E"/>
                </a:solidFill>
              </a:defRPr>
            </a:pPr>
            <a:r>
              <a:t>No retry queue yet — a single dropped notification needs a backfill re-run to catch up</a:t>
            </a:r>
          </a:p>
          <a:p>
            <a:pPr lvl="1">
              <a:spcAft>
                <a:spcPts val="800"/>
              </a:spcAft>
              <a:defRPr sz="1500" b="0">
                <a:solidFill>
                  <a:srgbClr val="5D6D7E"/>
                </a:solidFill>
              </a:defRPr>
            </a:pPr>
            <a:r>
              <a:t>Data currently lives on a local machine — sharing it more broadly needs a follow-up step</a:t>
            </a:r>
          </a:p>
          <a:p>
            <a:pPr lvl="1">
              <a:spcAft>
                <a:spcPts val="800"/>
              </a:spcAft>
              <a:defRPr sz="1500" b="0">
                <a:solidFill>
                  <a:srgbClr val="5D6D7E"/>
                </a:solidFill>
              </a:defRPr>
            </a:pPr>
            <a:r>
              <a:t>Recommended next step for production: host the receiver on a server with a fixed address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Day-to-Day: It Runs Itself</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No manual start-up needed — services start automatically on login and self-restart on crash</a:t>
            </a:r>
          </a:p>
          <a:p>
            <a:pPr>
              <a:spcAft>
                <a:spcPts val="800"/>
              </a:spcAft>
              <a:defRPr sz="1800" b="1">
                <a:solidFill>
                  <a:srgbClr val="1F3A5F"/>
                </a:solidFill>
              </a:defRPr>
            </a:pPr>
          </a:p>
          <a:p>
            <a:pPr>
              <a:spcAft>
                <a:spcPts val="800"/>
              </a:spcAft>
              <a:defRPr sz="1800" b="1">
                <a:solidFill>
                  <a:srgbClr val="1F3A5F"/>
                </a:solidFill>
              </a:defRPr>
            </a:pPr>
            <a:r>
              <a:t>To check health (takes 10 seconds):</a:t>
            </a:r>
          </a:p>
          <a:p>
            <a:pPr lvl="1">
              <a:spcAft>
                <a:spcPts val="800"/>
              </a:spcAft>
              <a:defRPr sz="1500" b="0">
                <a:solidFill>
                  <a:srgbClr val="5D6D7E"/>
                </a:solidFill>
              </a:defRPr>
            </a:pPr>
            <a:r>
              <a:t>launchctl list | grep servicenow   →  confirms both services are running</a:t>
            </a:r>
          </a:p>
          <a:p>
            <a:pPr lvl="1">
              <a:spcAft>
                <a:spcPts val="800"/>
              </a:spcAft>
              <a:defRPr sz="1500" b="0">
                <a:solidFill>
                  <a:srgbClr val="5D6D7E"/>
                </a:solidFill>
              </a:defRPr>
            </a:pPr>
            <a:r>
              <a:t>curl http://localhost:8800/healthz  →  confirms the receiver is responding</a:t>
            </a:r>
          </a:p>
          <a:p>
            <a:pPr>
              <a:spcAft>
                <a:spcPts val="800"/>
              </a:spcAft>
              <a:defRPr sz="1800" b="1">
                <a:solidFill>
                  <a:srgbClr val="1F3A5F"/>
                </a:solidFill>
              </a:defRPr>
            </a:pPr>
          </a:p>
          <a:p>
            <a:pPr>
              <a:spcAft>
                <a:spcPts val="800"/>
              </a:spcAft>
              <a:defRPr sz="1800" b="1">
                <a:solidFill>
                  <a:srgbClr val="1F3A5F"/>
                </a:solidFill>
              </a:defRPr>
            </a:pPr>
            <a:r>
              <a:t>To re-sync everything from scratch (safety net, always non-destructive):</a:t>
            </a:r>
          </a:p>
          <a:p>
            <a:pPr lvl="1">
              <a:spcAft>
                <a:spcPts val="800"/>
              </a:spcAft>
              <a:defRPr sz="1500" b="0">
                <a:solidFill>
                  <a:srgbClr val="5D6D7E"/>
                </a:solidFill>
              </a:defRPr>
            </a:pPr>
            <a:r>
              <a:t>python -m servicenow_sync.backfill</a:t>
            </a:r>
          </a:p>
          <a:p>
            <a:pPr>
              <a:spcAft>
                <a:spcPts val="800"/>
              </a:spcAft>
              <a:defRPr sz="1800" b="1">
                <a:solidFill>
                  <a:srgbClr val="1F3A5F"/>
                </a:solidFill>
              </a:defRPr>
            </a:pPr>
          </a:p>
          <a:p>
            <a:pPr>
              <a:spcAft>
                <a:spcPts val="800"/>
              </a:spcAft>
              <a:defRPr sz="1800" b="1">
                <a:solidFill>
                  <a:srgbClr val="1F3A5F"/>
                </a:solidFill>
              </a:defRPr>
            </a:pPr>
            <a:r>
              <a:t>Full documentation written up in the project repo for any teammate to pick 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1155680" cy="731520"/>
          </a:xfrm>
          <a:prstGeom prst="rect">
            <a:avLst/>
          </a:prstGeom>
          <a:noFill/>
        </p:spPr>
        <p:txBody>
          <a:bodyPr wrap="none">
            <a:spAutoFit/>
          </a:bodyPr>
          <a:lstStyle/>
          <a:p>
            <a:pPr>
              <a:defRPr sz="2800" b="1">
                <a:solidFill>
                  <a:srgbClr val="FFFFFF"/>
                </a:solidFill>
              </a:defRPr>
            </a:pPr>
            <a:r>
              <a:t>Recommendations &amp; Possible Next Steps</a:t>
            </a:r>
          </a:p>
        </p:txBody>
      </p:sp>
      <p:sp>
        <p:nvSpPr>
          <p:cNvPr id="4" name="TextBox 3"/>
          <p:cNvSpPr txBox="1"/>
          <p:nvPr/>
        </p:nvSpPr>
        <p:spPr>
          <a:xfrm>
            <a:off x="640080" y="1280160"/>
            <a:ext cx="10972800" cy="5303520"/>
          </a:xfrm>
          <a:prstGeom prst="rect">
            <a:avLst/>
          </a:prstGeom>
          <a:noFill/>
        </p:spPr>
        <p:txBody>
          <a:bodyPr wrap="square">
            <a:spAutoFit/>
          </a:bodyPr>
          <a:lstStyle/>
          <a:p>
            <a:pPr>
              <a:spcAft>
                <a:spcPts val="800"/>
              </a:spcAft>
              <a:defRPr sz="1800" b="1">
                <a:solidFill>
                  <a:srgbClr val="1F3A5F"/>
                </a:solidFill>
              </a:defRPr>
            </a:pPr>
            <a:r>
              <a:t>Today: fully working, automated, tested end-to-end — ready to use right now</a:t>
            </a:r>
          </a:p>
          <a:p>
            <a:pPr>
              <a:spcAft>
                <a:spcPts val="800"/>
              </a:spcAft>
              <a:defRPr sz="1800" b="1">
                <a:solidFill>
                  <a:srgbClr val="1F3A5F"/>
                </a:solidFill>
              </a:defRPr>
            </a:pPr>
          </a:p>
          <a:p>
            <a:pPr>
              <a:spcAft>
                <a:spcPts val="800"/>
              </a:spcAft>
              <a:defRPr sz="1800" b="1">
                <a:solidFill>
                  <a:srgbClr val="1F3A5F"/>
                </a:solidFill>
              </a:defRPr>
            </a:pPr>
            <a:r>
              <a:t>If we want to go further (your call on priority):</a:t>
            </a:r>
          </a:p>
          <a:p>
            <a:pPr lvl="1">
              <a:spcAft>
                <a:spcPts val="800"/>
              </a:spcAft>
              <a:defRPr sz="1500" b="0">
                <a:solidFill>
                  <a:srgbClr val="5D6D7E"/>
                </a:solidFill>
              </a:defRPr>
            </a:pPr>
            <a:r>
              <a:t>Host the webhook receiver on a server with a fixed address — removes the 'laptop must be on' dependency</a:t>
            </a:r>
          </a:p>
          <a:p>
            <a:pPr lvl="1">
              <a:spcAft>
                <a:spcPts val="800"/>
              </a:spcAft>
              <a:defRPr sz="1500" b="0">
                <a:solidFill>
                  <a:srgbClr val="5D6D7E"/>
                </a:solidFill>
              </a:defRPr>
            </a:pPr>
            <a:r>
              <a:t>Add a message queue / retry mechanism — guarantees zero data loss even during downtime</a:t>
            </a:r>
          </a:p>
          <a:p>
            <a:pPr lvl="1">
              <a:spcAft>
                <a:spcPts val="800"/>
              </a:spcAft>
              <a:defRPr sz="1500" b="0">
                <a:solidFill>
                  <a:srgbClr val="5D6D7E"/>
                </a:solidFill>
              </a:defRPr>
            </a:pPr>
            <a:r>
              <a:t>Add monitoring &amp; alerting — get notified proactively if the sync ever stops</a:t>
            </a:r>
          </a:p>
          <a:p>
            <a:pPr lvl="1">
              <a:spcAft>
                <a:spcPts val="800"/>
              </a:spcAft>
              <a:defRPr sz="1500" b="0">
                <a:solidFill>
                  <a:srgbClr val="5D6D7E"/>
                </a:solidFill>
              </a:defRPr>
            </a:pPr>
            <a:r>
              <a:t>Open up access — let other teammates query the synced data, with appropriate access controls</a:t>
            </a:r>
          </a:p>
          <a:p>
            <a:pPr>
              <a:spcAft>
                <a:spcPts val="800"/>
              </a:spcAft>
              <a:defRPr sz="1800" b="1">
                <a:solidFill>
                  <a:srgbClr val="1F3A5F"/>
                </a:solidFill>
              </a:defRPr>
            </a:pPr>
          </a:p>
          <a:p>
            <a:pPr>
              <a:spcAft>
                <a:spcPts val="800"/>
              </a:spcAft>
              <a:defRPr sz="1800" b="1">
                <a:solidFill>
                  <a:srgbClr val="1F3A5F"/>
                </a:solidFill>
              </a:defRPr>
            </a:pPr>
            <a:r>
              <a:t>My recommendation: use it as-is for now (it's solid), and revisit hosting once we're confident in the value it delivers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698480" cy="1645920"/>
          </a:xfrm>
          <a:prstGeom prst="rect">
            <a:avLst/>
          </a:prstGeom>
          <a:noFill/>
        </p:spPr>
        <p:txBody>
          <a:bodyPr wrap="square">
            <a:spAutoFit/>
          </a:bodyPr>
          <a:lstStyle/>
          <a:p>
            <a:pPr>
              <a:defRPr sz="4000" b="1">
                <a:solidFill>
                  <a:srgbClr val="FFFFFF"/>
                </a:solidFill>
              </a:defRPr>
            </a:pPr>
            <a:r>
              <a:t>Questions?</a:t>
            </a:r>
          </a:p>
        </p:txBody>
      </p:sp>
      <p:sp>
        <p:nvSpPr>
          <p:cNvPr id="4" name="TextBox 3"/>
          <p:cNvSpPr txBox="1"/>
          <p:nvPr/>
        </p:nvSpPr>
        <p:spPr>
          <a:xfrm>
            <a:off x="731520" y="3840480"/>
            <a:ext cx="10698480" cy="1371600"/>
          </a:xfrm>
          <a:prstGeom prst="rect">
            <a:avLst/>
          </a:prstGeom>
          <a:noFill/>
        </p:spPr>
        <p:txBody>
          <a:bodyPr wrap="square">
            <a:spAutoFit/>
          </a:bodyPr>
          <a:lstStyle/>
          <a:p>
            <a:pPr>
              <a:defRPr sz="2000">
                <a:solidFill>
                  <a:srgbClr val="D6E4F0"/>
                </a:solidFill>
              </a:defRPr>
            </a:pPr>
            <a:r>
              <a:t>Thank you — happy to dive deeper into any part: the code, the live demo, the database, or the trade-offs.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